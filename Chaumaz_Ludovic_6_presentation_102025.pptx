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21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71" r:id="rId9"/>
    <p:sldId id="264" r:id="rId10"/>
    <p:sldId id="265" r:id="rId11"/>
    <p:sldId id="275" r:id="rId12"/>
    <p:sldId id="266" r:id="rId13"/>
    <p:sldId id="274" r:id="rId14"/>
    <p:sldId id="270" r:id="rId15"/>
    <p:sldId id="272" r:id="rId16"/>
    <p:sldId id="273" r:id="rId17"/>
    <p:sldId id="267" r:id="rId18"/>
    <p:sldId id="268" r:id="rId19"/>
    <p:sldId id="269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FE8E35-F60A-4488-AAF8-000CBC3CB0C8}" type="datetimeFigureOut">
              <a:rPr lang="fr-FR" smtClean="0"/>
              <a:t>12/12/2025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783CC3-1BAA-4AC1-AB79-BF51256CCD1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94649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5A8AEA9-4A83-4514-8314-CAAC6BB424E7}" type="datetime1">
              <a:rPr lang="fr-FR" smtClean="0"/>
              <a:t>12/12/2025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82819AE-B619-487D-9152-CB0FE4E7081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55588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E619-AA96-4370-814B-B7263EDE5BEE}" type="datetime1">
              <a:rPr lang="fr-FR" smtClean="0"/>
              <a:t>12/12/2025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682819AE-B619-487D-9152-CB0FE4E7081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27934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207AFFE8-C243-437F-ACCD-2DE4DA4F5631}" type="datetime1">
              <a:rPr lang="fr-FR" smtClean="0"/>
              <a:t>12/12/2025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82819AE-B619-487D-9152-CB0FE4E7081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49407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56D03-5254-4E0A-91BD-3F14E781E4E2}" type="datetime1">
              <a:rPr lang="fr-FR" smtClean="0"/>
              <a:t>12/12/2025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819AE-B619-487D-9152-CB0FE4E7081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0574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93EB4-4823-4B53-B0B9-58F9E25A8EE9}" type="datetime1">
              <a:rPr lang="fr-FR" smtClean="0"/>
              <a:t>12/12/2025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819AE-B619-487D-9152-CB0FE4E7081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98573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58721-5E39-4BBC-9BF8-C6E60922CA88}" type="datetime1">
              <a:rPr lang="fr-FR" smtClean="0"/>
              <a:t>12/12/2025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819AE-B619-487D-9152-CB0FE4E70819}" type="slidenum">
              <a:rPr lang="fr-FR" smtClean="0"/>
              <a:t>‹N°›</a:t>
            </a:fld>
            <a:endParaRPr lang="fr-FR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374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F4260-FCD6-49A1-B353-AD20383AEFA7}" type="datetime1">
              <a:rPr lang="fr-FR" smtClean="0"/>
              <a:t>12/12/2025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819AE-B619-487D-9152-CB0FE4E7081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75207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28C70CC8-C2E2-4F25-AD41-5746C43C3AF6}" type="datetime1">
              <a:rPr lang="fr-FR" smtClean="0"/>
              <a:t>12/12/2025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82819AE-B619-487D-9152-CB0FE4E7081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60236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480EA-1F7B-4118-88E7-7DD22ACFAD7A}" type="datetime1">
              <a:rPr lang="fr-FR" smtClean="0"/>
              <a:t>12/12/2025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819AE-B619-487D-9152-CB0FE4E7081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96866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8F633-EE6D-44A7-9E75-72C2FD5B7BAB}" type="datetime1">
              <a:rPr lang="fr-FR" smtClean="0"/>
              <a:t>12/12/2025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819AE-B619-487D-9152-CB0FE4E7081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05394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1404B51-B437-4C22-9E27-0FFAA42698D9}" type="datetime1">
              <a:rPr lang="fr-FR" smtClean="0"/>
              <a:t>12/12/2025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82819AE-B619-487D-9152-CB0FE4E7081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1209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C366350D-C3F6-47FE-AE80-E681493CF550}" type="datetime1">
              <a:rPr lang="fr-FR" smtClean="0"/>
              <a:t>12/12/2025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682819AE-B619-487D-9152-CB0FE4E70819}" type="slidenum">
              <a:rPr lang="fr-FR" smtClean="0"/>
              <a:t>‹N°›</a:t>
            </a:fld>
            <a:endParaRPr lang="fr-FR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36110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ludovicchmz-creditscoreapp.onrender.com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B6624B-F141-AD9D-8609-795230AD9E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725271"/>
            <a:ext cx="10993549" cy="1475013"/>
          </a:xfrm>
        </p:spPr>
        <p:txBody>
          <a:bodyPr>
            <a:normAutofit/>
          </a:bodyPr>
          <a:lstStyle/>
          <a:p>
            <a:pPr algn="ctr"/>
            <a:r>
              <a:rPr lang="fr-FR" dirty="0"/>
              <a:t>élaboration et implémentation d’un modèle de </a:t>
            </a:r>
            <a:r>
              <a:rPr lang="fr-FR" dirty="0" err="1"/>
              <a:t>scoring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23BA777-6EBF-5E0B-513D-01F1D4C4018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Construction, déploiement et suivi du modèle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53400DB6-1961-0F55-35D1-42C6C69E06F6}"/>
              </a:ext>
            </a:extLst>
          </p:cNvPr>
          <p:cNvSpPr txBox="1"/>
          <p:nvPr/>
        </p:nvSpPr>
        <p:spPr>
          <a:xfrm>
            <a:off x="465781" y="6010922"/>
            <a:ext cx="2099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Ludovic CHAUMAZ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61F2A245-FEEB-150B-0319-DC15C3C46EE5}"/>
              </a:ext>
            </a:extLst>
          </p:cNvPr>
          <p:cNvSpPr txBox="1"/>
          <p:nvPr/>
        </p:nvSpPr>
        <p:spPr>
          <a:xfrm>
            <a:off x="10720816" y="6010922"/>
            <a:ext cx="1005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05/12/25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A56B620C-F34A-E474-C710-67256037C8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5587" y="3085766"/>
            <a:ext cx="7287642" cy="2886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3515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CC72B1-5F1A-5054-5F23-B2DBA6146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INTRODUCTION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4544733-89F6-1961-4522-6A14ADC947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Présentation du jeu de données</a:t>
            </a:r>
          </a:p>
          <a:p>
            <a:r>
              <a:rPr lang="fr-FR" dirty="0"/>
              <a:t>Analyse exploratoire</a:t>
            </a:r>
          </a:p>
          <a:p>
            <a:r>
              <a:rPr lang="fr-FR" dirty="0" err="1"/>
              <a:t>Feature</a:t>
            </a:r>
            <a:r>
              <a:rPr lang="fr-FR" dirty="0"/>
              <a:t> engineering</a:t>
            </a:r>
          </a:p>
          <a:p>
            <a:r>
              <a:rPr lang="fr-FR" dirty="0"/>
              <a:t>Construction du modèle</a:t>
            </a:r>
          </a:p>
          <a:p>
            <a:r>
              <a:rPr lang="fr-FR" dirty="0" err="1"/>
              <a:t>Feature</a:t>
            </a:r>
            <a:r>
              <a:rPr lang="fr-FR" dirty="0"/>
              <a:t> importance</a:t>
            </a:r>
          </a:p>
          <a:p>
            <a:r>
              <a:rPr lang="fr-FR" dirty="0"/>
              <a:t>Déploiement du modèle</a:t>
            </a:r>
          </a:p>
          <a:p>
            <a:r>
              <a:rPr lang="fr-FR" dirty="0"/>
              <a:t>Analyse du data drift</a:t>
            </a:r>
          </a:p>
          <a:p>
            <a:r>
              <a:rPr lang="fr-FR" dirty="0"/>
              <a:t>Exemple de </a:t>
            </a:r>
            <a:r>
              <a:rPr lang="fr-FR" dirty="0" err="1"/>
              <a:t>scoring</a:t>
            </a:r>
            <a:r>
              <a:rPr lang="fr-FR" dirty="0"/>
              <a:t> client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0BAF506-3142-7AC5-2D26-45C1ADEE7F05}"/>
              </a:ext>
            </a:extLst>
          </p:cNvPr>
          <p:cNvSpPr txBox="1"/>
          <p:nvPr/>
        </p:nvSpPr>
        <p:spPr>
          <a:xfrm>
            <a:off x="-1" y="6488668"/>
            <a:ext cx="12192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/>
              <a:t>Introduction </a:t>
            </a:r>
            <a:r>
              <a:rPr lang="fr-FR" sz="1600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 Description  </a:t>
            </a:r>
            <a:r>
              <a:rPr lang="fr-FR" sz="1600" dirty="0">
                <a:solidFill>
                  <a:schemeClr val="bg1">
                    <a:lumMod val="85000"/>
                  </a:schemeClr>
                </a:solidFill>
              </a:rPr>
              <a:t>Analyses </a:t>
            </a:r>
            <a:r>
              <a:rPr lang="fr-FR" sz="1600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 </a:t>
            </a:r>
            <a:r>
              <a:rPr lang="fr-FR" sz="1600" dirty="0" err="1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Feature</a:t>
            </a:r>
            <a:r>
              <a:rPr lang="fr-FR" sz="1600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 engineering  Modélisation </a:t>
            </a:r>
            <a:r>
              <a:rPr lang="fr-FR" sz="1600" dirty="0" err="1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Feature</a:t>
            </a:r>
            <a:r>
              <a:rPr lang="fr-FR" sz="1600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 importance  Déploiement  Suivi  Exemple</a:t>
            </a:r>
            <a:endParaRPr lang="fr-FR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FD4DB94-7F45-D450-69B7-58A2EA20B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819AE-B619-487D-9152-CB0FE4E70819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60168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CCB5B-12CC-4789-B1BD-F38854B96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81E3FA1-6AF0-DE06-EE84-99ABC223E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Présentation du jeu de données</a:t>
            </a:r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AF80AD4C-7B3D-107E-802D-66D6F35695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35623" y="1865868"/>
            <a:ext cx="6920753" cy="4455394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6C61E0B8-7959-A697-8AC2-DA14F556ABCF}"/>
              </a:ext>
            </a:extLst>
          </p:cNvPr>
          <p:cNvSpPr txBox="1"/>
          <p:nvPr/>
        </p:nvSpPr>
        <p:spPr>
          <a:xfrm>
            <a:off x="-1" y="6488668"/>
            <a:ext cx="12192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>
                <a:solidFill>
                  <a:schemeClr val="bg1">
                    <a:lumMod val="85000"/>
                  </a:schemeClr>
                </a:solidFill>
              </a:rPr>
              <a:t>Introduction</a:t>
            </a:r>
            <a:r>
              <a:rPr lang="fr-FR" sz="1600" dirty="0"/>
              <a:t> </a:t>
            </a:r>
            <a:r>
              <a:rPr lang="fr-FR" sz="1600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 </a:t>
            </a:r>
            <a:r>
              <a:rPr lang="fr-FR" sz="1600" dirty="0">
                <a:sym typeface="Wingdings" panose="05000000000000000000" pitchFamily="2" charset="2"/>
              </a:rPr>
              <a:t>Description</a:t>
            </a:r>
            <a:r>
              <a:rPr lang="fr-FR" sz="1600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  </a:t>
            </a:r>
            <a:r>
              <a:rPr lang="fr-FR" sz="1600" dirty="0">
                <a:solidFill>
                  <a:schemeClr val="bg1">
                    <a:lumMod val="85000"/>
                  </a:schemeClr>
                </a:solidFill>
              </a:rPr>
              <a:t>Analyses </a:t>
            </a:r>
            <a:r>
              <a:rPr lang="fr-FR" sz="1600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 </a:t>
            </a:r>
            <a:r>
              <a:rPr lang="fr-FR" sz="1600" dirty="0" err="1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Feature</a:t>
            </a:r>
            <a:r>
              <a:rPr lang="fr-FR" sz="1600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 engineering  Modélisation </a:t>
            </a:r>
            <a:r>
              <a:rPr lang="fr-FR" sz="1600" dirty="0" err="1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Feature</a:t>
            </a:r>
            <a:r>
              <a:rPr lang="fr-FR" sz="1600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 importance  Déploiement  Suivi  Exemple</a:t>
            </a:r>
            <a:endParaRPr lang="fr-FR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F57E086-A466-A5F3-302D-978396750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819AE-B619-487D-9152-CB0FE4E70819}" type="slidenum">
              <a:rPr lang="fr-FR" smtClean="0"/>
              <a:t>3</a:t>
            </a:fld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43E78552-9344-6C8D-AAA7-741E6C36959C}"/>
              </a:ext>
            </a:extLst>
          </p:cNvPr>
          <p:cNvSpPr txBox="1"/>
          <p:nvPr/>
        </p:nvSpPr>
        <p:spPr>
          <a:xfrm>
            <a:off x="6929717" y="1883362"/>
            <a:ext cx="13147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/>
              <a:t>122 colonnes</a:t>
            </a:r>
          </a:p>
          <a:p>
            <a:r>
              <a:rPr lang="fr-FR" sz="1600" dirty="0"/>
              <a:t>307510 lignes</a:t>
            </a:r>
          </a:p>
        </p:txBody>
      </p:sp>
    </p:spTree>
    <p:extLst>
      <p:ext uri="{BB962C8B-B14F-4D97-AF65-F5344CB8AC3E}">
        <p14:creationId xmlns:p14="http://schemas.microsoft.com/office/powerpoint/2010/main" val="2189415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9C009-CBE0-3516-F6DF-F137D169D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2D49FC-6A2D-AD12-B880-82DB8CC57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Analyse exploratoire : distribution de la </a:t>
            </a:r>
            <a:r>
              <a:rPr lang="fr-FR" dirty="0" err="1"/>
              <a:t>target</a:t>
            </a:r>
            <a:endParaRPr lang="fr-FR" dirty="0"/>
          </a:p>
        </p:txBody>
      </p:sp>
      <p:pic>
        <p:nvPicPr>
          <p:cNvPr id="10" name="Espace réservé du contenu 9">
            <a:extLst>
              <a:ext uri="{FF2B5EF4-FFF2-40B4-BE49-F238E27FC236}">
                <a16:creationId xmlns:a16="http://schemas.microsoft.com/office/drawing/2014/main" id="{52B4D3C0-31E9-F469-EDD4-8226876B097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rcRect t="5810"/>
          <a:stretch>
            <a:fillRect/>
          </a:stretch>
        </p:blipFill>
        <p:spPr>
          <a:xfrm>
            <a:off x="772420" y="2438400"/>
            <a:ext cx="5040109" cy="3422650"/>
          </a:xfrm>
          <a:prstGeom prst="rect">
            <a:avLst/>
          </a:prstGeom>
        </p:spPr>
      </p:pic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4A06BF8-FC75-6B35-6B1D-B8B6F1C53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819AE-B619-487D-9152-CB0FE4E70819}" type="slidenum">
              <a:rPr lang="fr-FR" smtClean="0"/>
              <a:t>4</a:t>
            </a:fld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175F8FEA-282F-1A3F-29CE-B350BB3FEC18}"/>
              </a:ext>
            </a:extLst>
          </p:cNvPr>
          <p:cNvSpPr txBox="1"/>
          <p:nvPr/>
        </p:nvSpPr>
        <p:spPr>
          <a:xfrm>
            <a:off x="-1" y="6488668"/>
            <a:ext cx="12192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>
                <a:solidFill>
                  <a:schemeClr val="bg1">
                    <a:lumMod val="85000"/>
                  </a:schemeClr>
                </a:solidFill>
              </a:rPr>
              <a:t>Introduction</a:t>
            </a:r>
            <a:r>
              <a:rPr lang="fr-FR" sz="1600" dirty="0"/>
              <a:t> </a:t>
            </a:r>
            <a:r>
              <a:rPr lang="fr-FR" sz="1600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 Description  </a:t>
            </a:r>
            <a:r>
              <a:rPr lang="fr-FR" sz="1600" dirty="0"/>
              <a:t>Analyses</a:t>
            </a:r>
            <a:r>
              <a:rPr lang="fr-FR" sz="16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fr-FR" sz="1600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 </a:t>
            </a:r>
            <a:r>
              <a:rPr lang="fr-FR" sz="1600" dirty="0" err="1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Feature</a:t>
            </a:r>
            <a:r>
              <a:rPr lang="fr-FR" sz="1600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 engineering  Modélisation </a:t>
            </a:r>
            <a:r>
              <a:rPr lang="fr-FR" sz="1600" dirty="0" err="1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Feature</a:t>
            </a:r>
            <a:r>
              <a:rPr lang="fr-FR" sz="1600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 importance  Déploiement  Suivi  Exemple</a:t>
            </a:r>
            <a:endParaRPr lang="fr-FR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14" name="Espace réservé du contenu 13">
            <a:extLst>
              <a:ext uri="{FF2B5EF4-FFF2-40B4-BE49-F238E27FC236}">
                <a16:creationId xmlns:a16="http://schemas.microsoft.com/office/drawing/2014/main" id="{40FA2246-B0C2-F843-2042-79809336B30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rcRect t="5810"/>
          <a:stretch>
            <a:fillRect/>
          </a:stretch>
        </p:blipFill>
        <p:spPr>
          <a:xfrm>
            <a:off x="7172456" y="2438400"/>
            <a:ext cx="3454138" cy="342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9455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18A79-8DA4-D2DB-2AE2-271D779E1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E2080C-C201-65F0-E897-D9E785148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Analyse exploratoire : Corrélations évidentes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9601C9E-B935-E752-F16D-85AB76944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819AE-B619-487D-9152-CB0FE4E70819}" type="slidenum">
              <a:rPr lang="fr-FR" smtClean="0"/>
              <a:t>5</a:t>
            </a:fld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68D3327-2AEB-FB34-732B-BEE3EE63F9DE}"/>
              </a:ext>
            </a:extLst>
          </p:cNvPr>
          <p:cNvSpPr txBox="1"/>
          <p:nvPr/>
        </p:nvSpPr>
        <p:spPr>
          <a:xfrm>
            <a:off x="-1" y="6488668"/>
            <a:ext cx="12192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>
                <a:solidFill>
                  <a:schemeClr val="bg1">
                    <a:lumMod val="85000"/>
                  </a:schemeClr>
                </a:solidFill>
              </a:rPr>
              <a:t>Introduction</a:t>
            </a:r>
            <a:r>
              <a:rPr lang="fr-FR" sz="1600" dirty="0"/>
              <a:t> </a:t>
            </a:r>
            <a:r>
              <a:rPr lang="fr-FR" sz="1600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 Description  </a:t>
            </a:r>
            <a:r>
              <a:rPr lang="fr-FR" sz="1600" dirty="0"/>
              <a:t>Analyses</a:t>
            </a:r>
            <a:r>
              <a:rPr lang="fr-FR" sz="16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fr-FR" sz="1600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 </a:t>
            </a:r>
            <a:r>
              <a:rPr lang="fr-FR" sz="1600" dirty="0" err="1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Feature</a:t>
            </a:r>
            <a:r>
              <a:rPr lang="fr-FR" sz="1600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 engineering  Modélisation </a:t>
            </a:r>
            <a:r>
              <a:rPr lang="fr-FR" sz="1600" dirty="0" err="1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Feature</a:t>
            </a:r>
            <a:r>
              <a:rPr lang="fr-FR" sz="1600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 importance  Déploiement  Suivi  Exemple</a:t>
            </a:r>
            <a:endParaRPr lang="fr-FR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11" name="Espace réservé du contenu 10">
            <a:extLst>
              <a:ext uri="{FF2B5EF4-FFF2-40B4-BE49-F238E27FC236}">
                <a16:creationId xmlns:a16="http://schemas.microsoft.com/office/drawing/2014/main" id="{2ABCA3A4-1C30-0400-21C7-B13B5BF46E3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920419" y="2227263"/>
            <a:ext cx="4744111" cy="3633787"/>
          </a:xfrm>
          <a:prstGeom prst="rect">
            <a:avLst/>
          </a:prstGeom>
        </p:spPr>
      </p:pic>
      <p:pic>
        <p:nvPicPr>
          <p:cNvPr id="13" name="Espace réservé du contenu 12">
            <a:extLst>
              <a:ext uri="{FF2B5EF4-FFF2-40B4-BE49-F238E27FC236}">
                <a16:creationId xmlns:a16="http://schemas.microsoft.com/office/drawing/2014/main" id="{B513AB1D-7AA6-FEBE-50A4-75C7B8B1E21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924984" y="2227263"/>
            <a:ext cx="3949082" cy="3633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7049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95347C-8774-5C04-3CB9-B9AE0414C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F4B2CD5-D137-F2A4-C1AC-54F39D71D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Analyse exploratoire : Corrélations évidentes</a:t>
            </a:r>
          </a:p>
        </p:txBody>
      </p:sp>
      <p:pic>
        <p:nvPicPr>
          <p:cNvPr id="12" name="Espace réservé du contenu 11">
            <a:extLst>
              <a:ext uri="{FF2B5EF4-FFF2-40B4-BE49-F238E27FC236}">
                <a16:creationId xmlns:a16="http://schemas.microsoft.com/office/drawing/2014/main" id="{48AB3053-197B-705F-F5DC-B827417EB9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34364" y="2181225"/>
            <a:ext cx="4323272" cy="3678238"/>
          </a:xfrm>
          <a:prstGeom prst="rect">
            <a:avLst/>
          </a:prstGeom>
        </p:spPr>
      </p:pic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E613291-DE73-E080-A6DA-7CD14C8F1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819AE-B619-487D-9152-CB0FE4E70819}" type="slidenum">
              <a:rPr lang="fr-FR" smtClean="0"/>
              <a:t>6</a:t>
            </a:fld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18C6E7DF-BEC0-9789-644C-C162B1B16AA5}"/>
              </a:ext>
            </a:extLst>
          </p:cNvPr>
          <p:cNvSpPr txBox="1"/>
          <p:nvPr/>
        </p:nvSpPr>
        <p:spPr>
          <a:xfrm>
            <a:off x="-1" y="6488668"/>
            <a:ext cx="12192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>
                <a:solidFill>
                  <a:schemeClr val="bg1">
                    <a:lumMod val="85000"/>
                  </a:schemeClr>
                </a:solidFill>
              </a:rPr>
              <a:t>Introduction</a:t>
            </a:r>
            <a:r>
              <a:rPr lang="fr-FR" sz="1600" dirty="0"/>
              <a:t> </a:t>
            </a:r>
            <a:r>
              <a:rPr lang="fr-FR" sz="1600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 Description  </a:t>
            </a:r>
            <a:r>
              <a:rPr lang="fr-FR" sz="1600" dirty="0"/>
              <a:t>Analyses</a:t>
            </a:r>
            <a:r>
              <a:rPr lang="fr-FR" sz="16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fr-FR" sz="1600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 </a:t>
            </a:r>
            <a:r>
              <a:rPr lang="fr-FR" sz="1600" dirty="0" err="1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Feature</a:t>
            </a:r>
            <a:r>
              <a:rPr lang="fr-FR" sz="1600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 engineering  Modélisation </a:t>
            </a:r>
            <a:r>
              <a:rPr lang="fr-FR" sz="1600" dirty="0" err="1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Feature</a:t>
            </a:r>
            <a:r>
              <a:rPr lang="fr-FR" sz="1600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 importance  Déploiement  Suivi  Exemple</a:t>
            </a:r>
            <a:endParaRPr lang="fr-FR" sz="1600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96869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E0983-A513-BFDA-7862-61F4D1A19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2ED2A5B-4F56-FBED-3E33-FDFF4944E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Feature</a:t>
            </a:r>
            <a:r>
              <a:rPr lang="fr-FR" dirty="0"/>
              <a:t> engineering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4BEB621-DA35-C975-9475-A830FA883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819AE-B619-487D-9152-CB0FE4E70819}" type="slidenum">
              <a:rPr lang="fr-FR" smtClean="0"/>
              <a:t>7</a:t>
            </a:fld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C639C60A-3630-067C-E18F-04719E70D63A}"/>
              </a:ext>
            </a:extLst>
          </p:cNvPr>
          <p:cNvSpPr txBox="1"/>
          <p:nvPr/>
        </p:nvSpPr>
        <p:spPr>
          <a:xfrm>
            <a:off x="-1" y="6488668"/>
            <a:ext cx="12192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>
                <a:solidFill>
                  <a:schemeClr val="bg1">
                    <a:lumMod val="85000"/>
                  </a:schemeClr>
                </a:solidFill>
              </a:rPr>
              <a:t>Introduction</a:t>
            </a:r>
            <a:r>
              <a:rPr lang="fr-FR" sz="1600" dirty="0"/>
              <a:t> </a:t>
            </a:r>
            <a:r>
              <a:rPr lang="fr-FR" sz="1600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 Description  </a:t>
            </a:r>
            <a:r>
              <a:rPr lang="fr-FR" sz="1600" dirty="0">
                <a:solidFill>
                  <a:schemeClr val="bg1">
                    <a:lumMod val="85000"/>
                  </a:schemeClr>
                </a:solidFill>
              </a:rPr>
              <a:t>Analyses </a:t>
            </a:r>
            <a:r>
              <a:rPr lang="fr-FR" sz="1600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 </a:t>
            </a:r>
            <a:r>
              <a:rPr lang="fr-FR" sz="1600" dirty="0" err="1">
                <a:sym typeface="Wingdings" panose="05000000000000000000" pitchFamily="2" charset="2"/>
              </a:rPr>
              <a:t>Feature</a:t>
            </a:r>
            <a:r>
              <a:rPr lang="fr-FR" sz="1600" dirty="0">
                <a:sym typeface="Wingdings" panose="05000000000000000000" pitchFamily="2" charset="2"/>
              </a:rPr>
              <a:t> engineering</a:t>
            </a:r>
            <a:r>
              <a:rPr lang="fr-FR" sz="1600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  Modélisation </a:t>
            </a:r>
            <a:r>
              <a:rPr lang="fr-FR" sz="1600" dirty="0" err="1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Feature</a:t>
            </a:r>
            <a:r>
              <a:rPr lang="fr-FR" sz="1600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 importance  Déploiement  Suivi  Exemple</a:t>
            </a:r>
            <a:endParaRPr lang="fr-FR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9D1F67B-BB8F-BD68-E97F-DB77F10D73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Variables numériques : groupement par compte, moyenne, maximum, minimum et somme.</a:t>
            </a:r>
          </a:p>
          <a:p>
            <a:r>
              <a:rPr lang="fr-FR" dirty="0"/>
              <a:t>Variables catégorielles : encodage (</a:t>
            </a:r>
            <a:r>
              <a:rPr lang="fr-FR" dirty="0" err="1"/>
              <a:t>LabelEncoder</a:t>
            </a:r>
            <a:r>
              <a:rPr lang="fr-FR" dirty="0"/>
              <a:t> / </a:t>
            </a:r>
            <a:r>
              <a:rPr lang="fr-FR" dirty="0" err="1"/>
              <a:t>OneHotEncoder</a:t>
            </a:r>
            <a:r>
              <a:rPr lang="fr-FR" dirty="0"/>
              <a:t>) puis compte et calcul de fréquence.</a:t>
            </a:r>
          </a:p>
          <a:p>
            <a:r>
              <a:rPr lang="fr-FR" dirty="0"/>
              <a:t>Sélection en fonction du taux de valeurs manquantes et de la corrélation avec d’autres variables.</a:t>
            </a:r>
          </a:p>
          <a:p>
            <a:r>
              <a:rPr lang="fr-FR" dirty="0"/>
              <a:t>Ajout d’autres variables : durée du crédit, ratio revenus/mensualités…</a:t>
            </a:r>
          </a:p>
        </p:txBody>
      </p:sp>
    </p:spTree>
    <p:extLst>
      <p:ext uri="{BB962C8B-B14F-4D97-AF65-F5344CB8AC3E}">
        <p14:creationId xmlns:p14="http://schemas.microsoft.com/office/powerpoint/2010/main" val="16706888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34605-F600-C011-1C60-D5E1B50DF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33DBFF-A141-D119-5F0A-A8C7530C2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Création du modèle : méthode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7C29B6C-88AD-79EE-464B-42D04709E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819AE-B619-487D-9152-CB0FE4E70819}" type="slidenum">
              <a:rPr lang="fr-FR" smtClean="0"/>
              <a:t>8</a:t>
            </a:fld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15C3D466-E985-2818-DB89-14EFA63EE22B}"/>
              </a:ext>
            </a:extLst>
          </p:cNvPr>
          <p:cNvSpPr txBox="1"/>
          <p:nvPr/>
        </p:nvSpPr>
        <p:spPr>
          <a:xfrm>
            <a:off x="-1" y="6488668"/>
            <a:ext cx="12192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>
                <a:solidFill>
                  <a:schemeClr val="bg1">
                    <a:lumMod val="85000"/>
                  </a:schemeClr>
                </a:solidFill>
              </a:rPr>
              <a:t>Introduction</a:t>
            </a:r>
            <a:r>
              <a:rPr lang="fr-FR" sz="1600" dirty="0"/>
              <a:t> </a:t>
            </a:r>
            <a:r>
              <a:rPr lang="fr-FR" sz="1600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 Description  </a:t>
            </a:r>
            <a:r>
              <a:rPr lang="fr-FR" sz="1600" dirty="0">
                <a:solidFill>
                  <a:schemeClr val="bg1">
                    <a:lumMod val="85000"/>
                  </a:schemeClr>
                </a:solidFill>
              </a:rPr>
              <a:t>Analyses </a:t>
            </a:r>
            <a:r>
              <a:rPr lang="fr-FR" sz="1600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 </a:t>
            </a:r>
            <a:r>
              <a:rPr lang="fr-FR" sz="1600" dirty="0" err="1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Feature</a:t>
            </a:r>
            <a:r>
              <a:rPr lang="fr-FR" sz="1600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 engineering  </a:t>
            </a:r>
            <a:r>
              <a:rPr lang="fr-FR" sz="1600" dirty="0">
                <a:sym typeface="Wingdings" panose="05000000000000000000" pitchFamily="2" charset="2"/>
              </a:rPr>
              <a:t>Modélisation</a:t>
            </a:r>
            <a:r>
              <a:rPr lang="fr-FR" sz="1600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 </a:t>
            </a:r>
            <a:r>
              <a:rPr lang="fr-FR" sz="1600" dirty="0" err="1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Feature</a:t>
            </a:r>
            <a:r>
              <a:rPr lang="fr-FR" sz="1600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 importance  Déploiement  Suivi  Exemple</a:t>
            </a:r>
            <a:endParaRPr lang="fr-FR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84EAAF4E-66A4-A5BE-6402-C68BE4EC5C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Création d’une pipeline pour tester les modèles</a:t>
            </a:r>
          </a:p>
          <a:p>
            <a:r>
              <a:rPr lang="fr-FR" dirty="0"/>
              <a:t>Imputation par la médiane quand nécessaire, transformation avec </a:t>
            </a:r>
            <a:r>
              <a:rPr lang="fr-FR" dirty="0" err="1"/>
              <a:t>MinMaxScaler</a:t>
            </a:r>
            <a:endParaRPr lang="fr-FR" dirty="0"/>
          </a:p>
          <a:p>
            <a:r>
              <a:rPr lang="fr-FR" dirty="0"/>
              <a:t>Création d’un score personnalisé (car FN = 10 * FP), suivi aussi de l’</a:t>
            </a:r>
            <a:r>
              <a:rPr lang="fr-FR" dirty="0" err="1"/>
              <a:t>accuracy</a:t>
            </a:r>
            <a:r>
              <a:rPr lang="fr-FR" dirty="0"/>
              <a:t> et du ROC AUC</a:t>
            </a:r>
          </a:p>
          <a:p>
            <a:r>
              <a:rPr lang="fr-FR" dirty="0"/>
              <a:t>Validation croisée et optimisation des hyperparamètres avec </a:t>
            </a:r>
            <a:r>
              <a:rPr lang="fr-FR" dirty="0" err="1"/>
              <a:t>GridSearchCV</a:t>
            </a:r>
            <a:endParaRPr lang="fr-FR" dirty="0"/>
          </a:p>
          <a:p>
            <a:r>
              <a:rPr lang="fr-FR" dirty="0" err="1"/>
              <a:t>Tracking</a:t>
            </a:r>
            <a:r>
              <a:rPr lang="fr-FR" dirty="0"/>
              <a:t> avec MLFLOW</a:t>
            </a:r>
          </a:p>
        </p:txBody>
      </p:sp>
    </p:spTree>
    <p:extLst>
      <p:ext uri="{BB962C8B-B14F-4D97-AF65-F5344CB8AC3E}">
        <p14:creationId xmlns:p14="http://schemas.microsoft.com/office/powerpoint/2010/main" val="29060060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B6C38-6531-D61A-5736-2ADADB636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3755B7C-F4A5-4A73-D648-AB1D40680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Création du modèle : </a:t>
            </a:r>
            <a:r>
              <a:rPr lang="fr-FR" dirty="0" err="1"/>
              <a:t>baseline</a:t>
            </a:r>
            <a:r>
              <a:rPr lang="fr-FR" dirty="0"/>
              <a:t> et 1ers tests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180FDD0-A3C6-4F3A-777D-5073C247E7E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fr-FR" dirty="0"/>
              <a:t>Baseline : prédit des 0 quoiqu’il arrive</a:t>
            </a:r>
          </a:p>
          <a:p>
            <a:r>
              <a:rPr lang="fr-FR" dirty="0"/>
              <a:t>Tests sans gestion du déséquilibre de la </a:t>
            </a:r>
            <a:r>
              <a:rPr lang="fr-FR" dirty="0" err="1"/>
              <a:t>target</a:t>
            </a:r>
            <a:r>
              <a:rPr lang="fr-FR" dirty="0"/>
              <a:t> :</a:t>
            </a:r>
          </a:p>
          <a:p>
            <a:pPr marL="0" indent="0">
              <a:buNone/>
            </a:pPr>
            <a:r>
              <a:rPr lang="fr-FR" dirty="0"/>
              <a:t>	- Régression logistique</a:t>
            </a:r>
          </a:p>
          <a:p>
            <a:pPr marL="0" indent="0">
              <a:buNone/>
            </a:pPr>
            <a:r>
              <a:rPr lang="fr-FR" dirty="0"/>
              <a:t>	- Forêt aléatoire</a:t>
            </a:r>
          </a:p>
          <a:p>
            <a:pPr marL="0" indent="0">
              <a:buNone/>
            </a:pPr>
            <a:r>
              <a:rPr lang="fr-FR" dirty="0"/>
              <a:t>	- </a:t>
            </a:r>
            <a:r>
              <a:rPr lang="fr-FR" dirty="0" err="1"/>
              <a:t>XGBoost</a:t>
            </a:r>
            <a:endParaRPr lang="fr-FR" dirty="0"/>
          </a:p>
          <a:p>
            <a:pPr marL="0" indent="0">
              <a:buNone/>
            </a:pPr>
            <a:r>
              <a:rPr lang="fr-FR" dirty="0">
                <a:sym typeface="Wingdings" panose="05000000000000000000" pitchFamily="2" charset="2"/>
              </a:rPr>
              <a:t> Pas de bons résultats, mais </a:t>
            </a:r>
            <a:r>
              <a:rPr lang="fr-FR" dirty="0" err="1">
                <a:sym typeface="Wingdings" panose="05000000000000000000" pitchFamily="2" charset="2"/>
              </a:rPr>
              <a:t>XGBoost</a:t>
            </a:r>
            <a:r>
              <a:rPr lang="fr-FR" dirty="0">
                <a:sym typeface="Wingdings" panose="05000000000000000000" pitchFamily="2" charset="2"/>
              </a:rPr>
              <a:t> meilleur que les autres</a:t>
            </a:r>
            <a:endParaRPr lang="fr-FR" dirty="0"/>
          </a:p>
        </p:txBody>
      </p:sp>
      <p:pic>
        <p:nvPicPr>
          <p:cNvPr id="8" name="Espace réservé du contenu 7" descr="Une image contenant capture d’écran, ligne, Rectangle, diagramme&#10;&#10;Le contenu généré par l’IA peut être incorrect.">
            <a:extLst>
              <a:ext uri="{FF2B5EF4-FFF2-40B4-BE49-F238E27FC236}">
                <a16:creationId xmlns:a16="http://schemas.microsoft.com/office/drawing/2014/main" id="{B0F6DB1B-7615-351F-67B0-9C26A122820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88075" y="2693876"/>
            <a:ext cx="5422900" cy="2700560"/>
          </a:xfrm>
          <a:prstGeom prst="rect">
            <a:avLst/>
          </a:prstGeom>
        </p:spPr>
      </p:pic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51B234B-E533-2CC1-BC5A-3ED586BFF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819AE-B619-487D-9152-CB0FE4E70819}" type="slidenum">
              <a:rPr lang="fr-FR" smtClean="0"/>
              <a:t>9</a:t>
            </a:fld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594D607-926F-7EE6-1825-83E549A8BFCD}"/>
              </a:ext>
            </a:extLst>
          </p:cNvPr>
          <p:cNvSpPr txBox="1"/>
          <p:nvPr/>
        </p:nvSpPr>
        <p:spPr>
          <a:xfrm>
            <a:off x="-1" y="6488668"/>
            <a:ext cx="12192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>
                <a:solidFill>
                  <a:schemeClr val="bg1">
                    <a:lumMod val="85000"/>
                  </a:schemeClr>
                </a:solidFill>
              </a:rPr>
              <a:t>Introduction</a:t>
            </a:r>
            <a:r>
              <a:rPr lang="fr-FR" sz="1600" dirty="0"/>
              <a:t> </a:t>
            </a:r>
            <a:r>
              <a:rPr lang="fr-FR" sz="1600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 Description  </a:t>
            </a:r>
            <a:r>
              <a:rPr lang="fr-FR" sz="1600" dirty="0">
                <a:solidFill>
                  <a:schemeClr val="bg1">
                    <a:lumMod val="85000"/>
                  </a:schemeClr>
                </a:solidFill>
              </a:rPr>
              <a:t>Analyses </a:t>
            </a:r>
            <a:r>
              <a:rPr lang="fr-FR" sz="1600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 </a:t>
            </a:r>
            <a:r>
              <a:rPr lang="fr-FR" sz="1600" dirty="0" err="1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Feature</a:t>
            </a:r>
            <a:r>
              <a:rPr lang="fr-FR" sz="1600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 engineering  </a:t>
            </a:r>
            <a:r>
              <a:rPr lang="fr-FR" sz="1600" dirty="0">
                <a:sym typeface="Wingdings" panose="05000000000000000000" pitchFamily="2" charset="2"/>
              </a:rPr>
              <a:t>Modélisation</a:t>
            </a:r>
            <a:r>
              <a:rPr lang="fr-FR" sz="1600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 </a:t>
            </a:r>
            <a:r>
              <a:rPr lang="fr-FR" sz="1600" dirty="0" err="1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Feature</a:t>
            </a:r>
            <a:r>
              <a:rPr lang="fr-FR" sz="1600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 importance  Déploiement  Suivi  Exemple</a:t>
            </a:r>
            <a:endParaRPr lang="fr-FR" sz="1600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19779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BCBAB-CFAE-F07C-33C5-A21A9B472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0B17F0-A0AA-1014-B749-2A7AA7E2A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Création du modèle : gestion du déséquilibre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69599E0-1731-6172-A26F-5D5F8956B8C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fr-FR" dirty="0"/>
              <a:t>Gestion du déséquilibre : </a:t>
            </a:r>
          </a:p>
          <a:p>
            <a:pPr marL="0" indent="0">
              <a:buNone/>
            </a:pPr>
            <a:r>
              <a:rPr lang="fr-FR" dirty="0"/>
              <a:t>	- </a:t>
            </a:r>
            <a:r>
              <a:rPr lang="fr-FR" dirty="0" err="1"/>
              <a:t>Undersampling</a:t>
            </a:r>
            <a:r>
              <a:rPr lang="fr-FR" dirty="0"/>
              <a:t>  </a:t>
            </a:r>
          </a:p>
          <a:p>
            <a:pPr marL="0" indent="0">
              <a:buNone/>
            </a:pPr>
            <a:r>
              <a:rPr lang="fr-FR" dirty="0"/>
              <a:t>	- SMOTE + </a:t>
            </a:r>
            <a:r>
              <a:rPr lang="fr-FR" dirty="0" err="1"/>
              <a:t>undersampling</a:t>
            </a:r>
            <a:endParaRPr lang="fr-FR" dirty="0"/>
          </a:p>
          <a:p>
            <a:pPr marL="0" indent="0">
              <a:buNone/>
            </a:pPr>
            <a:r>
              <a:rPr lang="fr-FR" dirty="0">
                <a:sym typeface="Wingdings" panose="05000000000000000000" pitchFamily="2" charset="2"/>
              </a:rPr>
              <a:t> Meilleur résultat : </a:t>
            </a:r>
            <a:r>
              <a:rPr lang="fr-FR" dirty="0" err="1">
                <a:sym typeface="Wingdings" panose="05000000000000000000" pitchFamily="2" charset="2"/>
              </a:rPr>
              <a:t>LightGBM</a:t>
            </a:r>
            <a:r>
              <a:rPr lang="fr-FR" dirty="0">
                <a:sym typeface="Wingdings" panose="05000000000000000000" pitchFamily="2" charset="2"/>
              </a:rPr>
              <a:t> + </a:t>
            </a:r>
            <a:r>
              <a:rPr lang="fr-FR" dirty="0" err="1">
                <a:sym typeface="Wingdings" panose="05000000000000000000" pitchFamily="2" charset="2"/>
              </a:rPr>
              <a:t>Undersampling</a:t>
            </a:r>
            <a:endParaRPr lang="fr-FR" dirty="0"/>
          </a:p>
          <a:p>
            <a:endParaRPr lang="fr-FR" dirty="0"/>
          </a:p>
        </p:txBody>
      </p:sp>
      <p:pic>
        <p:nvPicPr>
          <p:cNvPr id="9" name="Espace réservé du contenu 8" descr="Une image contenant capture d’écran, ligne, diagramme, Rectangle&#10;&#10;Le contenu généré par l’IA peut être incorrect.">
            <a:extLst>
              <a:ext uri="{FF2B5EF4-FFF2-40B4-BE49-F238E27FC236}">
                <a16:creationId xmlns:a16="http://schemas.microsoft.com/office/drawing/2014/main" id="{6D95DBD9-83D3-1911-F90D-DD3FBF7ADC1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88075" y="2700694"/>
            <a:ext cx="5422900" cy="2686924"/>
          </a:xfrm>
          <a:prstGeom prst="rect">
            <a:avLst/>
          </a:prstGeom>
        </p:spPr>
      </p:pic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C7E25FB-E90C-AADC-B3FA-C81EEE363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819AE-B619-487D-9152-CB0FE4E70819}" type="slidenum">
              <a:rPr lang="fr-FR" smtClean="0"/>
              <a:t>10</a:t>
            </a:fld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0F90463A-3F2B-62FD-B974-E272CFD86467}"/>
              </a:ext>
            </a:extLst>
          </p:cNvPr>
          <p:cNvSpPr txBox="1"/>
          <p:nvPr/>
        </p:nvSpPr>
        <p:spPr>
          <a:xfrm>
            <a:off x="-1" y="6488668"/>
            <a:ext cx="12192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>
                <a:solidFill>
                  <a:schemeClr val="bg1">
                    <a:lumMod val="85000"/>
                  </a:schemeClr>
                </a:solidFill>
              </a:rPr>
              <a:t>Introduction</a:t>
            </a:r>
            <a:r>
              <a:rPr lang="fr-FR" sz="1600" dirty="0"/>
              <a:t> </a:t>
            </a:r>
            <a:r>
              <a:rPr lang="fr-FR" sz="1600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 Description  </a:t>
            </a:r>
            <a:r>
              <a:rPr lang="fr-FR" sz="1600" dirty="0">
                <a:solidFill>
                  <a:schemeClr val="bg1">
                    <a:lumMod val="85000"/>
                  </a:schemeClr>
                </a:solidFill>
              </a:rPr>
              <a:t>Analyses </a:t>
            </a:r>
            <a:r>
              <a:rPr lang="fr-FR" sz="1600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 </a:t>
            </a:r>
            <a:r>
              <a:rPr lang="fr-FR" sz="1600" dirty="0" err="1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Feature</a:t>
            </a:r>
            <a:r>
              <a:rPr lang="fr-FR" sz="1600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 engineering  </a:t>
            </a:r>
            <a:r>
              <a:rPr lang="fr-FR" sz="1600" dirty="0">
                <a:sym typeface="Wingdings" panose="05000000000000000000" pitchFamily="2" charset="2"/>
              </a:rPr>
              <a:t>Modélisation</a:t>
            </a:r>
            <a:r>
              <a:rPr lang="fr-FR" sz="1600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 </a:t>
            </a:r>
            <a:r>
              <a:rPr lang="fr-FR" sz="1600" dirty="0" err="1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Feature</a:t>
            </a:r>
            <a:r>
              <a:rPr lang="fr-FR" sz="1600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 importance  Déploiement  Suivi  Exemple</a:t>
            </a:r>
            <a:endParaRPr lang="fr-FR" sz="1600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23414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A992E-45DE-525D-2676-D5CD3F125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89BA014-75E3-AF8B-FB38-8A9E7834D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Création du modèle : Exemple de </a:t>
            </a:r>
            <a:r>
              <a:rPr lang="fr-FR" dirty="0" err="1"/>
              <a:t>tracking</a:t>
            </a:r>
            <a:endParaRPr lang="fr-FR" dirty="0"/>
          </a:p>
        </p:txBody>
      </p:sp>
      <p:pic>
        <p:nvPicPr>
          <p:cNvPr id="10" name="Espace réservé du contenu 9" descr="Une image contenant texte, capture d’écran, logiciel, Logiciel multimédia&#10;&#10;Le contenu généré par l’IA peut être incorrect.">
            <a:extLst>
              <a:ext uri="{FF2B5EF4-FFF2-40B4-BE49-F238E27FC236}">
                <a16:creationId xmlns:a16="http://schemas.microsoft.com/office/drawing/2014/main" id="{30985864-3600-B6B7-9448-75C9DFD082D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81025" y="2764767"/>
            <a:ext cx="5422900" cy="2558778"/>
          </a:xfrm>
          <a:prstGeom prst="rect">
            <a:avLst/>
          </a:prstGeom>
        </p:spPr>
      </p:pic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690EF10-B7B4-1AB7-F25A-0779D17BE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819AE-B619-487D-9152-CB0FE4E70819}" type="slidenum">
              <a:rPr lang="fr-FR" smtClean="0"/>
              <a:t>11</a:t>
            </a:fld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D8F17A9-1B47-2C9A-4D65-6319D80DA528}"/>
              </a:ext>
            </a:extLst>
          </p:cNvPr>
          <p:cNvSpPr txBox="1"/>
          <p:nvPr/>
        </p:nvSpPr>
        <p:spPr>
          <a:xfrm>
            <a:off x="-1" y="6488668"/>
            <a:ext cx="12192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>
                <a:solidFill>
                  <a:schemeClr val="bg1">
                    <a:lumMod val="85000"/>
                  </a:schemeClr>
                </a:solidFill>
              </a:rPr>
              <a:t>Introduction</a:t>
            </a:r>
            <a:r>
              <a:rPr lang="fr-FR" sz="1600" dirty="0"/>
              <a:t> </a:t>
            </a:r>
            <a:r>
              <a:rPr lang="fr-FR" sz="1600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 Description  </a:t>
            </a:r>
            <a:r>
              <a:rPr lang="fr-FR" sz="1600" dirty="0">
                <a:solidFill>
                  <a:schemeClr val="bg1">
                    <a:lumMod val="85000"/>
                  </a:schemeClr>
                </a:solidFill>
              </a:rPr>
              <a:t>Analyses </a:t>
            </a:r>
            <a:r>
              <a:rPr lang="fr-FR" sz="1600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 </a:t>
            </a:r>
            <a:r>
              <a:rPr lang="fr-FR" sz="1600" dirty="0" err="1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Feature</a:t>
            </a:r>
            <a:r>
              <a:rPr lang="fr-FR" sz="1600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 engineering  </a:t>
            </a:r>
            <a:r>
              <a:rPr lang="fr-FR" sz="1600" dirty="0">
                <a:sym typeface="Wingdings" panose="05000000000000000000" pitchFamily="2" charset="2"/>
              </a:rPr>
              <a:t>Modélisation</a:t>
            </a:r>
            <a:r>
              <a:rPr lang="fr-FR" sz="1600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 </a:t>
            </a:r>
            <a:r>
              <a:rPr lang="fr-FR" sz="1600" dirty="0" err="1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Feature</a:t>
            </a:r>
            <a:r>
              <a:rPr lang="fr-FR" sz="1600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 importance  Déploiement  Suivi  Exemple</a:t>
            </a:r>
            <a:endParaRPr lang="fr-FR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12" name="Espace réservé du contenu 11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A9091493-BC26-FE5A-C48D-A40E166CAED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894232" y="3577366"/>
            <a:ext cx="4010585" cy="933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0018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DBEFC1-EF19-DEA1-41FC-67BD5A4E6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5DF3FAB-8DED-C1F0-F2F8-D0B08F722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Feature</a:t>
            </a:r>
            <a:r>
              <a:rPr lang="fr-FR" dirty="0"/>
              <a:t> importance globale</a:t>
            </a:r>
          </a:p>
        </p:txBody>
      </p:sp>
      <p:pic>
        <p:nvPicPr>
          <p:cNvPr id="10" name="Espace réservé du contenu 9">
            <a:extLst>
              <a:ext uri="{FF2B5EF4-FFF2-40B4-BE49-F238E27FC236}">
                <a16:creationId xmlns:a16="http://schemas.microsoft.com/office/drawing/2014/main" id="{BB47ED87-C05B-E031-7492-AADE354A157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20845" y="2433918"/>
            <a:ext cx="5875155" cy="1990164"/>
          </a:xfrm>
          <a:prstGeom prst="rect">
            <a:avLst/>
          </a:prstGeom>
        </p:spPr>
      </p:pic>
      <p:pic>
        <p:nvPicPr>
          <p:cNvPr id="12" name="Espace réservé du contenu 11">
            <a:extLst>
              <a:ext uri="{FF2B5EF4-FFF2-40B4-BE49-F238E27FC236}">
                <a16:creationId xmlns:a16="http://schemas.microsoft.com/office/drawing/2014/main" id="{19BD5C87-8D4E-7BCF-E53D-6C43FD6E2C7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552256" y="2227263"/>
            <a:ext cx="4694537" cy="3633787"/>
          </a:xfrm>
          <a:prstGeom prst="rect">
            <a:avLst/>
          </a:prstGeom>
        </p:spPr>
      </p:pic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6867705-D6A5-82F5-2262-AE51F148E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819AE-B619-487D-9152-CB0FE4E70819}" type="slidenum">
              <a:rPr lang="fr-FR" smtClean="0"/>
              <a:t>12</a:t>
            </a:fld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CBCF3252-A11C-7E66-046D-07B0E95671E9}"/>
              </a:ext>
            </a:extLst>
          </p:cNvPr>
          <p:cNvSpPr txBox="1"/>
          <p:nvPr/>
        </p:nvSpPr>
        <p:spPr>
          <a:xfrm>
            <a:off x="-1" y="6488668"/>
            <a:ext cx="12192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>
                <a:solidFill>
                  <a:schemeClr val="bg1">
                    <a:lumMod val="85000"/>
                  </a:schemeClr>
                </a:solidFill>
              </a:rPr>
              <a:t>Introduction</a:t>
            </a:r>
            <a:r>
              <a:rPr lang="fr-FR" sz="1600" dirty="0"/>
              <a:t> </a:t>
            </a:r>
            <a:r>
              <a:rPr lang="fr-FR" sz="1600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 Description  </a:t>
            </a:r>
            <a:r>
              <a:rPr lang="fr-FR" sz="1600" dirty="0">
                <a:solidFill>
                  <a:schemeClr val="bg1">
                    <a:lumMod val="85000"/>
                  </a:schemeClr>
                </a:solidFill>
              </a:rPr>
              <a:t>Analyses </a:t>
            </a:r>
            <a:r>
              <a:rPr lang="fr-FR" sz="1600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 </a:t>
            </a:r>
            <a:r>
              <a:rPr lang="fr-FR" sz="1600" dirty="0" err="1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Feature</a:t>
            </a:r>
            <a:r>
              <a:rPr lang="fr-FR" sz="1600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 engineering  Modélisation </a:t>
            </a:r>
            <a:r>
              <a:rPr lang="fr-FR" sz="1600" dirty="0" err="1">
                <a:sym typeface="Wingdings" panose="05000000000000000000" pitchFamily="2" charset="2"/>
              </a:rPr>
              <a:t>Feature</a:t>
            </a:r>
            <a:r>
              <a:rPr lang="fr-FR" sz="1600" dirty="0">
                <a:sym typeface="Wingdings" panose="05000000000000000000" pitchFamily="2" charset="2"/>
              </a:rPr>
              <a:t> importance</a:t>
            </a:r>
            <a:r>
              <a:rPr lang="fr-FR" sz="1600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  Déploiement  Suivi  Exemple</a:t>
            </a:r>
            <a:endParaRPr lang="fr-FR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BECC8320-12B2-D73B-649E-C91D44936AB0}"/>
              </a:ext>
            </a:extLst>
          </p:cNvPr>
          <p:cNvSpPr txBox="1"/>
          <p:nvPr/>
        </p:nvSpPr>
        <p:spPr>
          <a:xfrm>
            <a:off x="1191362" y="4610189"/>
            <a:ext cx="53608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Suppression des </a:t>
            </a:r>
            <a:r>
              <a:rPr lang="fr-FR" dirty="0" err="1"/>
              <a:t>features</a:t>
            </a:r>
            <a:r>
              <a:rPr lang="fr-FR" dirty="0"/>
              <a:t> « inutiles » du modèle : pas d’amélioration.</a:t>
            </a:r>
          </a:p>
        </p:txBody>
      </p:sp>
    </p:spTree>
    <p:extLst>
      <p:ext uri="{BB962C8B-B14F-4D97-AF65-F5344CB8AC3E}">
        <p14:creationId xmlns:p14="http://schemas.microsoft.com/office/powerpoint/2010/main" val="39153995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C2236-009C-2C01-5FCB-5470CC455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999EE60-5C22-F50B-DDBF-3FA9E9A9E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Feature</a:t>
            </a:r>
            <a:r>
              <a:rPr lang="fr-FR" dirty="0"/>
              <a:t> importance globale et seuil de décision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C69265A-81A0-BB3A-668A-1B53797D8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819AE-B619-487D-9152-CB0FE4E70819}" type="slidenum">
              <a:rPr lang="fr-FR" smtClean="0"/>
              <a:t>13</a:t>
            </a:fld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2845186-14D0-0A8F-CF63-02173A55D96A}"/>
              </a:ext>
            </a:extLst>
          </p:cNvPr>
          <p:cNvSpPr txBox="1"/>
          <p:nvPr/>
        </p:nvSpPr>
        <p:spPr>
          <a:xfrm>
            <a:off x="-1" y="6488668"/>
            <a:ext cx="12192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>
                <a:solidFill>
                  <a:schemeClr val="bg1">
                    <a:lumMod val="85000"/>
                  </a:schemeClr>
                </a:solidFill>
              </a:rPr>
              <a:t>Introduction</a:t>
            </a:r>
            <a:r>
              <a:rPr lang="fr-FR" sz="1600" dirty="0"/>
              <a:t> </a:t>
            </a:r>
            <a:r>
              <a:rPr lang="fr-FR" sz="1600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 Description  </a:t>
            </a:r>
            <a:r>
              <a:rPr lang="fr-FR" sz="1600" dirty="0">
                <a:solidFill>
                  <a:schemeClr val="bg1">
                    <a:lumMod val="85000"/>
                  </a:schemeClr>
                </a:solidFill>
              </a:rPr>
              <a:t>Analyses </a:t>
            </a:r>
            <a:r>
              <a:rPr lang="fr-FR" sz="1600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 </a:t>
            </a:r>
            <a:r>
              <a:rPr lang="fr-FR" sz="1600" dirty="0" err="1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Feature</a:t>
            </a:r>
            <a:r>
              <a:rPr lang="fr-FR" sz="1600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 engineering  Modélisation </a:t>
            </a:r>
            <a:r>
              <a:rPr lang="fr-FR" sz="1600" dirty="0" err="1">
                <a:sym typeface="Wingdings" panose="05000000000000000000" pitchFamily="2" charset="2"/>
              </a:rPr>
              <a:t>Feature</a:t>
            </a:r>
            <a:r>
              <a:rPr lang="fr-FR" sz="1600" dirty="0">
                <a:sym typeface="Wingdings" panose="05000000000000000000" pitchFamily="2" charset="2"/>
              </a:rPr>
              <a:t> importance</a:t>
            </a:r>
            <a:r>
              <a:rPr lang="fr-FR" sz="1600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  Déploiement  Suivi  Exemple</a:t>
            </a:r>
            <a:endParaRPr lang="fr-FR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D04554E2-D347-0CE3-1768-982AA18417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1474421"/>
          </a:xfrm>
        </p:spPr>
        <p:txBody>
          <a:bodyPr/>
          <a:lstStyle/>
          <a:p>
            <a:r>
              <a:rPr lang="fr-FR" dirty="0"/>
              <a:t>Classement des modèles par rapport au seuil de décision : sélection finale du modèle</a:t>
            </a:r>
          </a:p>
          <a:p>
            <a:endParaRPr lang="fr-FR" dirty="0"/>
          </a:p>
        </p:txBody>
      </p:sp>
      <p:pic>
        <p:nvPicPr>
          <p:cNvPr id="11" name="Espace réservé du contenu 10" descr="Une image contenant capture d’écran, ligne, diagramme, Tracé&#10;&#10;Le contenu généré par l’IA peut être incorrect.">
            <a:extLst>
              <a:ext uri="{FF2B5EF4-FFF2-40B4-BE49-F238E27FC236}">
                <a16:creationId xmlns:a16="http://schemas.microsoft.com/office/drawing/2014/main" id="{AFA661A0-5491-8EDD-4946-7DC4F4F6834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88075" y="2707450"/>
            <a:ext cx="5422900" cy="2673413"/>
          </a:xfrm>
          <a:prstGeom prst="rect">
            <a:avLst/>
          </a:prstGeom>
        </p:spPr>
      </p:pic>
      <p:pic>
        <p:nvPicPr>
          <p:cNvPr id="15" name="Image 14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E199EB50-2F65-8726-B274-0573B56665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5045" y="3222812"/>
            <a:ext cx="1514686" cy="2905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0696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AD236-CA2A-2CF1-F916-703E08DC9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AA3A75-8D0E-397B-CFFF-10CA689EF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Feature</a:t>
            </a:r>
            <a:r>
              <a:rPr lang="fr-FR" dirty="0"/>
              <a:t> importance LOCALE : 2 exemples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16CC6DD-59A5-B9FD-984C-887541E1C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819AE-B619-487D-9152-CB0FE4E70819}" type="slidenum">
              <a:rPr lang="fr-FR" smtClean="0"/>
              <a:t>14</a:t>
            </a:fld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FA3ABEB8-24B0-FFAC-9024-A9BEE82247D7}"/>
              </a:ext>
            </a:extLst>
          </p:cNvPr>
          <p:cNvSpPr txBox="1"/>
          <p:nvPr/>
        </p:nvSpPr>
        <p:spPr>
          <a:xfrm>
            <a:off x="-1" y="6488668"/>
            <a:ext cx="12192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>
                <a:solidFill>
                  <a:schemeClr val="bg1">
                    <a:lumMod val="85000"/>
                  </a:schemeClr>
                </a:solidFill>
              </a:rPr>
              <a:t>Introduction</a:t>
            </a:r>
            <a:r>
              <a:rPr lang="fr-FR" sz="1600" dirty="0"/>
              <a:t> </a:t>
            </a:r>
            <a:r>
              <a:rPr lang="fr-FR" sz="1600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 Description  </a:t>
            </a:r>
            <a:r>
              <a:rPr lang="fr-FR" sz="1600" dirty="0">
                <a:solidFill>
                  <a:schemeClr val="bg1">
                    <a:lumMod val="85000"/>
                  </a:schemeClr>
                </a:solidFill>
              </a:rPr>
              <a:t>Analyses </a:t>
            </a:r>
            <a:r>
              <a:rPr lang="fr-FR" sz="1600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 </a:t>
            </a:r>
            <a:r>
              <a:rPr lang="fr-FR" sz="1600" dirty="0" err="1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Feature</a:t>
            </a:r>
            <a:r>
              <a:rPr lang="fr-FR" sz="1600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 engineering  Modélisation </a:t>
            </a:r>
            <a:r>
              <a:rPr lang="fr-FR" sz="1600" dirty="0" err="1">
                <a:sym typeface="Wingdings" panose="05000000000000000000" pitchFamily="2" charset="2"/>
              </a:rPr>
              <a:t>Feature</a:t>
            </a:r>
            <a:r>
              <a:rPr lang="fr-FR" sz="1600" dirty="0">
                <a:sym typeface="Wingdings" panose="05000000000000000000" pitchFamily="2" charset="2"/>
              </a:rPr>
              <a:t> importance</a:t>
            </a:r>
            <a:r>
              <a:rPr lang="fr-FR" sz="1600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  Déploiement  Suivi  Exemple</a:t>
            </a:r>
            <a:endParaRPr lang="fr-FR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11" name="Espace réservé du contenu 10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38C4A873-E85D-FB24-AEAB-AD908E6FDF5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81025" y="2692742"/>
            <a:ext cx="5422900" cy="2702828"/>
          </a:xfrm>
          <a:prstGeom prst="rect">
            <a:avLst/>
          </a:prstGeom>
        </p:spPr>
      </p:pic>
      <p:pic>
        <p:nvPicPr>
          <p:cNvPr id="15" name="Espace réservé du contenu 14" descr="Une image contenant texte, Police, nombr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8A73D401-659C-DF8D-2555-7AF5E7BEF5D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88074" y="2811088"/>
            <a:ext cx="5905106" cy="242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8649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65F29-01CA-D06F-E417-8AE44BCAC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A1B8F4-7242-A281-6431-FEBEF62AD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Déploiement :  gestion du projet avec </a:t>
            </a:r>
            <a:r>
              <a:rPr lang="fr-FR" dirty="0" err="1"/>
              <a:t>github</a:t>
            </a:r>
            <a:endParaRPr lang="fr-FR" dirty="0"/>
          </a:p>
        </p:txBody>
      </p:sp>
      <p:pic>
        <p:nvPicPr>
          <p:cNvPr id="23" name="Espace réservé du contenu 22" descr="Une image contenant texte, capture d’écran, logiciel&#10;&#10;Le contenu généré par l’IA peut être incorrect.">
            <a:extLst>
              <a:ext uri="{FF2B5EF4-FFF2-40B4-BE49-F238E27FC236}">
                <a16:creationId xmlns:a16="http://schemas.microsoft.com/office/drawing/2014/main" id="{9666D7B2-AE82-2FDD-361F-BCE1E79C78B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369132" y="2227263"/>
            <a:ext cx="3846685" cy="3633787"/>
          </a:xfrm>
          <a:prstGeom prst="rect">
            <a:avLst/>
          </a:prstGeom>
        </p:spPr>
      </p:pic>
      <p:pic>
        <p:nvPicPr>
          <p:cNvPr id="28" name="Espace réservé du contenu 27" descr="Une image contenant texte, capture d’écran, logiciel&#10;&#10;Le contenu généré par l’IA peut être incorrect.">
            <a:extLst>
              <a:ext uri="{FF2B5EF4-FFF2-40B4-BE49-F238E27FC236}">
                <a16:creationId xmlns:a16="http://schemas.microsoft.com/office/drawing/2014/main" id="{309E4F38-8C53-AA48-A59C-A60DEFE5B9D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282829" y="2227263"/>
            <a:ext cx="5233392" cy="3633787"/>
          </a:xfrm>
          <a:prstGeom prst="rect">
            <a:avLst/>
          </a:prstGeom>
        </p:spPr>
      </p:pic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50C39AB-574E-F3CA-EDEB-A406827FF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819AE-B619-487D-9152-CB0FE4E70819}" type="slidenum">
              <a:rPr lang="fr-FR" smtClean="0"/>
              <a:t>15</a:t>
            </a:fld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189A0A6-0BF1-B626-B71C-9319B8BBBBDF}"/>
              </a:ext>
            </a:extLst>
          </p:cNvPr>
          <p:cNvSpPr txBox="1"/>
          <p:nvPr/>
        </p:nvSpPr>
        <p:spPr>
          <a:xfrm>
            <a:off x="-1" y="6488668"/>
            <a:ext cx="12192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>
                <a:solidFill>
                  <a:schemeClr val="bg1">
                    <a:lumMod val="85000"/>
                  </a:schemeClr>
                </a:solidFill>
              </a:rPr>
              <a:t>Introduction</a:t>
            </a:r>
            <a:r>
              <a:rPr lang="fr-FR" sz="1600" dirty="0"/>
              <a:t> </a:t>
            </a:r>
            <a:r>
              <a:rPr lang="fr-FR" sz="1600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 Description  </a:t>
            </a:r>
            <a:r>
              <a:rPr lang="fr-FR" sz="1600" dirty="0">
                <a:solidFill>
                  <a:schemeClr val="bg1">
                    <a:lumMod val="85000"/>
                  </a:schemeClr>
                </a:solidFill>
              </a:rPr>
              <a:t>Analyses </a:t>
            </a:r>
            <a:r>
              <a:rPr lang="fr-FR" sz="1600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 </a:t>
            </a:r>
            <a:r>
              <a:rPr lang="fr-FR" sz="1600" dirty="0" err="1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Feature</a:t>
            </a:r>
            <a:r>
              <a:rPr lang="fr-FR" sz="1600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 engineering  Modélisation </a:t>
            </a:r>
            <a:r>
              <a:rPr lang="fr-FR" sz="1600" dirty="0" err="1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Feature</a:t>
            </a:r>
            <a:r>
              <a:rPr lang="fr-FR" sz="1600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 importance  </a:t>
            </a:r>
            <a:r>
              <a:rPr lang="fr-FR" sz="1600" dirty="0">
                <a:sym typeface="Wingdings" panose="05000000000000000000" pitchFamily="2" charset="2"/>
              </a:rPr>
              <a:t>Déploiement</a:t>
            </a:r>
            <a:r>
              <a:rPr lang="fr-FR" sz="1600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  Suivi  Exemple</a:t>
            </a:r>
            <a:endParaRPr lang="fr-FR" sz="1600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4379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2D199-30D5-CF39-D420-D3FFAF21C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75E2ED3-268E-A67B-84B5-D43B59BDC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Déploiement :  utilisation de </a:t>
            </a:r>
            <a:r>
              <a:rPr lang="fr-FR" dirty="0" err="1"/>
              <a:t>render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2BD1904-6BB7-93C1-CB4D-E03A22517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819AE-B619-487D-9152-CB0FE4E70819}" type="slidenum">
              <a:rPr lang="fr-FR" smtClean="0"/>
              <a:t>16</a:t>
            </a:fld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36654E12-7A10-4D59-F24C-E6038C636168}"/>
              </a:ext>
            </a:extLst>
          </p:cNvPr>
          <p:cNvSpPr txBox="1"/>
          <p:nvPr/>
        </p:nvSpPr>
        <p:spPr>
          <a:xfrm>
            <a:off x="-1" y="6488668"/>
            <a:ext cx="12192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>
                <a:solidFill>
                  <a:schemeClr val="bg1">
                    <a:lumMod val="85000"/>
                  </a:schemeClr>
                </a:solidFill>
              </a:rPr>
              <a:t>Introduction</a:t>
            </a:r>
            <a:r>
              <a:rPr lang="fr-FR" sz="1600" dirty="0"/>
              <a:t> </a:t>
            </a:r>
            <a:r>
              <a:rPr lang="fr-FR" sz="1600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 Description  </a:t>
            </a:r>
            <a:r>
              <a:rPr lang="fr-FR" sz="1600" dirty="0">
                <a:solidFill>
                  <a:schemeClr val="bg1">
                    <a:lumMod val="85000"/>
                  </a:schemeClr>
                </a:solidFill>
              </a:rPr>
              <a:t>Analyses </a:t>
            </a:r>
            <a:r>
              <a:rPr lang="fr-FR" sz="1600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 </a:t>
            </a:r>
            <a:r>
              <a:rPr lang="fr-FR" sz="1600" dirty="0" err="1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Feature</a:t>
            </a:r>
            <a:r>
              <a:rPr lang="fr-FR" sz="1600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 engineering  Modélisation </a:t>
            </a:r>
            <a:r>
              <a:rPr lang="fr-FR" sz="1600" dirty="0" err="1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Feature</a:t>
            </a:r>
            <a:r>
              <a:rPr lang="fr-FR" sz="1600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 importance  </a:t>
            </a:r>
            <a:r>
              <a:rPr lang="fr-FR" sz="1600" dirty="0">
                <a:sym typeface="Wingdings" panose="05000000000000000000" pitchFamily="2" charset="2"/>
              </a:rPr>
              <a:t>Déploiement</a:t>
            </a:r>
            <a:r>
              <a:rPr lang="fr-FR" sz="1600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  Suivi  Exemple</a:t>
            </a:r>
            <a:endParaRPr lang="fr-FR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12" name="Espace réservé du contenu 11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AE6C4AB1-4702-5C28-12F6-BF97E225277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81025" y="2751808"/>
            <a:ext cx="5422900" cy="1204133"/>
          </a:xfrm>
          <a:prstGeom prst="rect">
            <a:avLst/>
          </a:prstGeom>
        </p:spPr>
      </p:pic>
      <p:pic>
        <p:nvPicPr>
          <p:cNvPr id="10" name="Espace réservé du contenu 9" descr="Une image contenant texte, capture d’écran, logiciel&#10;&#10;Le contenu généré par l’IA peut être incorrect.">
            <a:extLst>
              <a:ext uri="{FF2B5EF4-FFF2-40B4-BE49-F238E27FC236}">
                <a16:creationId xmlns:a16="http://schemas.microsoft.com/office/drawing/2014/main" id="{CB6011F3-9DA9-CF30-8AFC-69AA9D8908E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88075" y="3022039"/>
            <a:ext cx="5422900" cy="2044234"/>
          </a:xfrm>
          <a:prstGeom prst="rect">
            <a:avLst/>
          </a:prstGeom>
        </p:spPr>
      </p:pic>
      <p:pic>
        <p:nvPicPr>
          <p:cNvPr id="14" name="Image 13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229879B0-38B8-3083-A768-C3C0ED1BB2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3955941"/>
            <a:ext cx="5422900" cy="1489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8654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981A1-FB26-A045-3541-CCA44EA46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9608B09-8D65-8A02-FF2A-090DB1AD3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Déploiement : schéma explicatif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67B2AF0-F616-82DC-5A03-3A7164B54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819AE-B619-487D-9152-CB0FE4E70819}" type="slidenum">
              <a:rPr lang="fr-FR" smtClean="0"/>
              <a:t>17</a:t>
            </a:fld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93F76CA2-D239-5527-6351-05D0CFE5CB00}"/>
              </a:ext>
            </a:extLst>
          </p:cNvPr>
          <p:cNvSpPr txBox="1"/>
          <p:nvPr/>
        </p:nvSpPr>
        <p:spPr>
          <a:xfrm>
            <a:off x="-1" y="6488668"/>
            <a:ext cx="12192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>
                <a:solidFill>
                  <a:schemeClr val="bg1">
                    <a:lumMod val="85000"/>
                  </a:schemeClr>
                </a:solidFill>
              </a:rPr>
              <a:t>Introduction</a:t>
            </a:r>
            <a:r>
              <a:rPr lang="fr-FR" sz="1600" dirty="0"/>
              <a:t> </a:t>
            </a:r>
            <a:r>
              <a:rPr lang="fr-FR" sz="1600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 Description  </a:t>
            </a:r>
            <a:r>
              <a:rPr lang="fr-FR" sz="1600" dirty="0">
                <a:solidFill>
                  <a:schemeClr val="bg1">
                    <a:lumMod val="85000"/>
                  </a:schemeClr>
                </a:solidFill>
              </a:rPr>
              <a:t>Analyses </a:t>
            </a:r>
            <a:r>
              <a:rPr lang="fr-FR" sz="1600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 </a:t>
            </a:r>
            <a:r>
              <a:rPr lang="fr-FR" sz="1600" dirty="0" err="1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Feature</a:t>
            </a:r>
            <a:r>
              <a:rPr lang="fr-FR" sz="1600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 engineering  Modélisation </a:t>
            </a:r>
            <a:r>
              <a:rPr lang="fr-FR" sz="1600" dirty="0" err="1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Feature</a:t>
            </a:r>
            <a:r>
              <a:rPr lang="fr-FR" sz="1600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 importance  </a:t>
            </a:r>
            <a:r>
              <a:rPr lang="fr-FR" sz="1600" dirty="0">
                <a:sym typeface="Wingdings" panose="05000000000000000000" pitchFamily="2" charset="2"/>
              </a:rPr>
              <a:t>Déploiement</a:t>
            </a:r>
            <a:r>
              <a:rPr lang="fr-FR" sz="1600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  Suivi  Exemple</a:t>
            </a:r>
            <a:endParaRPr lang="fr-FR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FEDC1EF-738F-E90C-B007-5F289D4255C7}"/>
              </a:ext>
            </a:extLst>
          </p:cNvPr>
          <p:cNvSpPr txBox="1"/>
          <p:nvPr/>
        </p:nvSpPr>
        <p:spPr>
          <a:xfrm>
            <a:off x="581192" y="3779146"/>
            <a:ext cx="1274708" cy="646331"/>
          </a:xfrm>
          <a:prstGeom prst="rect">
            <a:avLst/>
          </a:prstGeom>
          <a:solidFill>
            <a:srgbClr val="FFC000"/>
          </a:solidFill>
          <a:ln w="381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fr-FR" dirty="0"/>
              <a:t>Notebook</a:t>
            </a:r>
          </a:p>
          <a:p>
            <a:r>
              <a:rPr lang="fr-FR" dirty="0"/>
              <a:t>préparation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5B8CD57E-B982-8F7F-269F-A16396759DE2}"/>
              </a:ext>
            </a:extLst>
          </p:cNvPr>
          <p:cNvSpPr txBox="1"/>
          <p:nvPr/>
        </p:nvSpPr>
        <p:spPr>
          <a:xfrm>
            <a:off x="2788024" y="3779146"/>
            <a:ext cx="1375698" cy="646331"/>
          </a:xfrm>
          <a:prstGeom prst="rect">
            <a:avLst/>
          </a:prstGeom>
          <a:solidFill>
            <a:srgbClr val="FFC000"/>
          </a:solidFill>
          <a:ln w="381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fr-FR" dirty="0"/>
              <a:t>Notebook</a:t>
            </a:r>
          </a:p>
          <a:p>
            <a:r>
              <a:rPr lang="fr-FR" dirty="0"/>
              <a:t>modélisation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7F0906A-1A32-706F-8BB2-0215ACF1E9DA}"/>
              </a:ext>
            </a:extLst>
          </p:cNvPr>
          <p:cNvSpPr txBox="1"/>
          <p:nvPr/>
        </p:nvSpPr>
        <p:spPr>
          <a:xfrm>
            <a:off x="2808445" y="2193553"/>
            <a:ext cx="1334853" cy="369332"/>
          </a:xfrm>
          <a:prstGeom prst="rect">
            <a:avLst/>
          </a:prstGeom>
          <a:solidFill>
            <a:srgbClr val="92D050"/>
          </a:solidFill>
          <a:ln w="381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fr-FR" dirty="0"/>
              <a:t>Test unitaire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16EA6A80-99FF-5B77-A66A-125C5E114544}"/>
              </a:ext>
            </a:extLst>
          </p:cNvPr>
          <p:cNvSpPr txBox="1"/>
          <p:nvPr/>
        </p:nvSpPr>
        <p:spPr>
          <a:xfrm>
            <a:off x="2711079" y="5641738"/>
            <a:ext cx="1529586" cy="369332"/>
          </a:xfrm>
          <a:prstGeom prst="rect">
            <a:avLst/>
          </a:prstGeom>
          <a:solidFill>
            <a:srgbClr val="92D050"/>
          </a:solidFill>
          <a:ln w="381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fr-FR" dirty="0"/>
              <a:t>Données tests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6DCD479E-B206-CF53-F344-CD5F0AF090CF}"/>
              </a:ext>
            </a:extLst>
          </p:cNvPr>
          <p:cNvSpPr txBox="1"/>
          <p:nvPr/>
        </p:nvSpPr>
        <p:spPr>
          <a:xfrm>
            <a:off x="5372678" y="2896392"/>
            <a:ext cx="880369" cy="369332"/>
          </a:xfrm>
          <a:prstGeom prst="rect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fr-FR" dirty="0"/>
              <a:t>Modèle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28DEC784-B34B-7B18-2949-0C2931D9ADCD}"/>
              </a:ext>
            </a:extLst>
          </p:cNvPr>
          <p:cNvSpPr txBox="1"/>
          <p:nvPr/>
        </p:nvSpPr>
        <p:spPr>
          <a:xfrm>
            <a:off x="5324620" y="3571016"/>
            <a:ext cx="976486" cy="369332"/>
          </a:xfrm>
          <a:prstGeom prst="rect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fr-FR" dirty="0" err="1"/>
              <a:t>Features</a:t>
            </a:r>
            <a:endParaRPr lang="fr-FR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AB7777F3-DC98-A594-569A-E62E2DF34BE9}"/>
              </a:ext>
            </a:extLst>
          </p:cNvPr>
          <p:cNvSpPr txBox="1"/>
          <p:nvPr/>
        </p:nvSpPr>
        <p:spPr>
          <a:xfrm>
            <a:off x="5244438" y="4249712"/>
            <a:ext cx="1136850" cy="369332"/>
          </a:xfrm>
          <a:prstGeom prst="rect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fr-FR" dirty="0" err="1"/>
              <a:t>Explainers</a:t>
            </a:r>
            <a:endParaRPr lang="fr-FR" dirty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CE16D11C-3CBC-A236-38A7-8CA69B7A5ED6}"/>
              </a:ext>
            </a:extLst>
          </p:cNvPr>
          <p:cNvSpPr txBox="1"/>
          <p:nvPr/>
        </p:nvSpPr>
        <p:spPr>
          <a:xfrm>
            <a:off x="5503323" y="4927515"/>
            <a:ext cx="619080" cy="369332"/>
          </a:xfrm>
          <a:prstGeom prst="rect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fr-FR" dirty="0"/>
              <a:t>Seuil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844F9671-D0EC-9352-8043-5739AA2E2EF7}"/>
              </a:ext>
            </a:extLst>
          </p:cNvPr>
          <p:cNvSpPr txBox="1"/>
          <p:nvPr/>
        </p:nvSpPr>
        <p:spPr>
          <a:xfrm>
            <a:off x="7381603" y="3928946"/>
            <a:ext cx="513282" cy="369332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fr-FR" dirty="0"/>
              <a:t>API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3F3D953D-8801-2A9D-FDEF-1E405F6CB22B}"/>
              </a:ext>
            </a:extLst>
          </p:cNvPr>
          <p:cNvSpPr txBox="1"/>
          <p:nvPr/>
        </p:nvSpPr>
        <p:spPr>
          <a:xfrm>
            <a:off x="8898464" y="3786434"/>
            <a:ext cx="1241045" cy="646331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fr-FR" dirty="0"/>
              <a:t>Application</a:t>
            </a:r>
          </a:p>
          <a:p>
            <a:r>
              <a:rPr lang="fr-FR" dirty="0"/>
              <a:t>finale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26C97CBE-BDE4-2FED-00C8-65244CCE93A4}"/>
              </a:ext>
            </a:extLst>
          </p:cNvPr>
          <p:cNvSpPr txBox="1"/>
          <p:nvPr/>
        </p:nvSpPr>
        <p:spPr>
          <a:xfrm>
            <a:off x="9768191" y="4675443"/>
            <a:ext cx="1638975" cy="646331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fr-FR" dirty="0" err="1"/>
              <a:t>Dependencies</a:t>
            </a:r>
            <a:endParaRPr lang="fr-FR" dirty="0"/>
          </a:p>
          <a:p>
            <a:r>
              <a:rPr lang="fr-FR" dirty="0"/>
              <a:t>&amp; </a:t>
            </a:r>
            <a:r>
              <a:rPr lang="fr-FR" dirty="0" err="1"/>
              <a:t>requirements</a:t>
            </a:r>
            <a:endParaRPr lang="fr-FR" dirty="0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7D45222A-32BF-AEEF-693E-DE16A7DD1993}"/>
              </a:ext>
            </a:extLst>
          </p:cNvPr>
          <p:cNvSpPr txBox="1"/>
          <p:nvPr/>
        </p:nvSpPr>
        <p:spPr>
          <a:xfrm>
            <a:off x="7170808" y="2193553"/>
            <a:ext cx="934871" cy="369332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fr-FR" dirty="0"/>
              <a:t>Test API</a:t>
            </a:r>
          </a:p>
        </p:txBody>
      </p:sp>
      <p:cxnSp>
        <p:nvCxnSpPr>
          <p:cNvPr id="19" name="Connecteur : en angle 18">
            <a:extLst>
              <a:ext uri="{FF2B5EF4-FFF2-40B4-BE49-F238E27FC236}">
                <a16:creationId xmlns:a16="http://schemas.microsoft.com/office/drawing/2014/main" id="{0E0B9426-BA93-CE38-9676-DEB959DF50ED}"/>
              </a:ext>
            </a:extLst>
          </p:cNvPr>
          <p:cNvCxnSpPr>
            <a:stCxn id="3" idx="3"/>
            <a:endCxn id="7" idx="1"/>
          </p:cNvCxnSpPr>
          <p:nvPr/>
        </p:nvCxnSpPr>
        <p:spPr>
          <a:xfrm flipV="1">
            <a:off x="1855900" y="2378219"/>
            <a:ext cx="952545" cy="1724093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 : en angle 20">
            <a:extLst>
              <a:ext uri="{FF2B5EF4-FFF2-40B4-BE49-F238E27FC236}">
                <a16:creationId xmlns:a16="http://schemas.microsoft.com/office/drawing/2014/main" id="{302FCACF-C1BC-1C09-106B-4CE5984CEE60}"/>
              </a:ext>
            </a:extLst>
          </p:cNvPr>
          <p:cNvCxnSpPr>
            <a:stCxn id="3" idx="3"/>
            <a:endCxn id="8" idx="1"/>
          </p:cNvCxnSpPr>
          <p:nvPr/>
        </p:nvCxnSpPr>
        <p:spPr>
          <a:xfrm>
            <a:off x="1855900" y="4102312"/>
            <a:ext cx="855179" cy="1724092"/>
          </a:xfrm>
          <a:prstGeom prst="bentConnector3">
            <a:avLst>
              <a:gd name="adj1" fmla="val 55242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08BF0053-6E2A-0BEA-40BB-9558A2E0E46B}"/>
              </a:ext>
            </a:extLst>
          </p:cNvPr>
          <p:cNvCxnSpPr>
            <a:stCxn id="3" idx="3"/>
            <a:endCxn id="6" idx="1"/>
          </p:cNvCxnSpPr>
          <p:nvPr/>
        </p:nvCxnSpPr>
        <p:spPr>
          <a:xfrm>
            <a:off x="1855900" y="4102312"/>
            <a:ext cx="93212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eur droit avec flèche 24">
            <a:extLst>
              <a:ext uri="{FF2B5EF4-FFF2-40B4-BE49-F238E27FC236}">
                <a16:creationId xmlns:a16="http://schemas.microsoft.com/office/drawing/2014/main" id="{3AF34F9E-B18D-8D08-8A16-80A53B45699D}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4163722" y="2378219"/>
            <a:ext cx="300708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 : en angle 26">
            <a:extLst>
              <a:ext uri="{FF2B5EF4-FFF2-40B4-BE49-F238E27FC236}">
                <a16:creationId xmlns:a16="http://schemas.microsoft.com/office/drawing/2014/main" id="{1342B5F4-1195-E8EA-5D44-24CC1066C966}"/>
              </a:ext>
            </a:extLst>
          </p:cNvPr>
          <p:cNvCxnSpPr>
            <a:cxnSpLocks/>
            <a:endCxn id="10" idx="1"/>
          </p:cNvCxnSpPr>
          <p:nvPr/>
        </p:nvCxnSpPr>
        <p:spPr>
          <a:xfrm flipV="1">
            <a:off x="4150958" y="3081058"/>
            <a:ext cx="1221720" cy="1028542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 : en angle 28">
            <a:extLst>
              <a:ext uri="{FF2B5EF4-FFF2-40B4-BE49-F238E27FC236}">
                <a16:creationId xmlns:a16="http://schemas.microsoft.com/office/drawing/2014/main" id="{1CE5D8B3-9EA8-C8F6-4592-228178598F58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4161780" y="4109601"/>
            <a:ext cx="1341543" cy="1002580"/>
          </a:xfrm>
          <a:prstGeom prst="bentConnector3">
            <a:avLst>
              <a:gd name="adj1" fmla="val 44654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eur : en angle 33">
            <a:extLst>
              <a:ext uri="{FF2B5EF4-FFF2-40B4-BE49-F238E27FC236}">
                <a16:creationId xmlns:a16="http://schemas.microsoft.com/office/drawing/2014/main" id="{CE98325A-101D-9E53-7EF1-4831289CB3E6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4161780" y="4118896"/>
            <a:ext cx="1082658" cy="315482"/>
          </a:xfrm>
          <a:prstGeom prst="bentConnector3">
            <a:avLst>
              <a:gd name="adj1" fmla="val 55796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eur : en angle 36">
            <a:extLst>
              <a:ext uri="{FF2B5EF4-FFF2-40B4-BE49-F238E27FC236}">
                <a16:creationId xmlns:a16="http://schemas.microsoft.com/office/drawing/2014/main" id="{17150A55-129D-240F-F1CE-C7419B3C6F19}"/>
              </a:ext>
            </a:extLst>
          </p:cNvPr>
          <p:cNvCxnSpPr>
            <a:cxnSpLocks/>
            <a:endCxn id="11" idx="1"/>
          </p:cNvCxnSpPr>
          <p:nvPr/>
        </p:nvCxnSpPr>
        <p:spPr>
          <a:xfrm flipV="1">
            <a:off x="4161780" y="3755682"/>
            <a:ext cx="1162840" cy="363213"/>
          </a:xfrm>
          <a:prstGeom prst="bentConnector3">
            <a:avLst>
              <a:gd name="adj1" fmla="val 52313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eur : en angle 39">
            <a:extLst>
              <a:ext uri="{FF2B5EF4-FFF2-40B4-BE49-F238E27FC236}">
                <a16:creationId xmlns:a16="http://schemas.microsoft.com/office/drawing/2014/main" id="{FC06C825-BBC5-B8C1-B2AE-60764C9FBB79}"/>
              </a:ext>
            </a:extLst>
          </p:cNvPr>
          <p:cNvCxnSpPr>
            <a:cxnSpLocks/>
            <a:endCxn id="14" idx="1"/>
          </p:cNvCxnSpPr>
          <p:nvPr/>
        </p:nvCxnSpPr>
        <p:spPr>
          <a:xfrm flipV="1">
            <a:off x="6135574" y="4113612"/>
            <a:ext cx="1246029" cy="998569"/>
          </a:xfrm>
          <a:prstGeom prst="bentConnector3">
            <a:avLst>
              <a:gd name="adj1" fmla="val 55756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eur : en angle 40">
            <a:extLst>
              <a:ext uri="{FF2B5EF4-FFF2-40B4-BE49-F238E27FC236}">
                <a16:creationId xmlns:a16="http://schemas.microsoft.com/office/drawing/2014/main" id="{F1FDF602-9788-E16B-BE64-42BC53C6CD3B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6277356" y="3068751"/>
            <a:ext cx="1104247" cy="1044861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eur : en angle 44">
            <a:extLst>
              <a:ext uri="{FF2B5EF4-FFF2-40B4-BE49-F238E27FC236}">
                <a16:creationId xmlns:a16="http://schemas.microsoft.com/office/drawing/2014/main" id="{9C0DBB07-073E-9DF7-9561-95372CB4573A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6324935" y="3750695"/>
            <a:ext cx="1056668" cy="362917"/>
          </a:xfrm>
          <a:prstGeom prst="bentConnector3">
            <a:avLst>
              <a:gd name="adj1" fmla="val 46607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eur : en angle 47">
            <a:extLst>
              <a:ext uri="{FF2B5EF4-FFF2-40B4-BE49-F238E27FC236}">
                <a16:creationId xmlns:a16="http://schemas.microsoft.com/office/drawing/2014/main" id="{B7C3EDED-3F85-13B6-8EEB-41E1331D7B63}"/>
              </a:ext>
            </a:extLst>
          </p:cNvPr>
          <p:cNvCxnSpPr>
            <a:cxnSpLocks/>
            <a:endCxn id="14" idx="1"/>
          </p:cNvCxnSpPr>
          <p:nvPr/>
        </p:nvCxnSpPr>
        <p:spPr>
          <a:xfrm flipV="1">
            <a:off x="6394459" y="4113612"/>
            <a:ext cx="987144" cy="318904"/>
          </a:xfrm>
          <a:prstGeom prst="bentConnector3">
            <a:avLst>
              <a:gd name="adj1" fmla="val 43643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eur droit avec flèche 50">
            <a:extLst>
              <a:ext uri="{FF2B5EF4-FFF2-40B4-BE49-F238E27FC236}">
                <a16:creationId xmlns:a16="http://schemas.microsoft.com/office/drawing/2014/main" id="{DAB220F3-1FC5-7917-D438-81A06AABB34E}"/>
              </a:ext>
            </a:extLst>
          </p:cNvPr>
          <p:cNvCxnSpPr>
            <a:cxnSpLocks/>
          </p:cNvCxnSpPr>
          <p:nvPr/>
        </p:nvCxnSpPr>
        <p:spPr>
          <a:xfrm>
            <a:off x="7894885" y="4122239"/>
            <a:ext cx="1003579" cy="1130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eur droit avec flèche 52">
            <a:extLst>
              <a:ext uri="{FF2B5EF4-FFF2-40B4-BE49-F238E27FC236}">
                <a16:creationId xmlns:a16="http://schemas.microsoft.com/office/drawing/2014/main" id="{3AEBDA2D-1E7B-0B36-2F72-9EF0CBE5EEE6}"/>
              </a:ext>
            </a:extLst>
          </p:cNvPr>
          <p:cNvCxnSpPr>
            <a:cxnSpLocks/>
            <a:stCxn id="17" idx="2"/>
            <a:endCxn id="14" idx="0"/>
          </p:cNvCxnSpPr>
          <p:nvPr/>
        </p:nvCxnSpPr>
        <p:spPr>
          <a:xfrm>
            <a:off x="7638244" y="2562885"/>
            <a:ext cx="0" cy="136606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7" name="Image 56">
            <a:extLst>
              <a:ext uri="{FF2B5EF4-FFF2-40B4-BE49-F238E27FC236}">
                <a16:creationId xmlns:a16="http://schemas.microsoft.com/office/drawing/2014/main" id="{09C7435C-87C6-D6C7-815B-3AB7CF02F5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094" y="4675443"/>
            <a:ext cx="1505160" cy="400106"/>
          </a:xfrm>
          <a:prstGeom prst="rect">
            <a:avLst/>
          </a:prstGeom>
        </p:spPr>
      </p:pic>
      <p:pic>
        <p:nvPicPr>
          <p:cNvPr id="59" name="Image 58" descr="Une image contenant Police, Graphique, logo, cercle&#10;&#10;Le contenu généré par l’IA peut être incorrect.">
            <a:extLst>
              <a:ext uri="{FF2B5EF4-FFF2-40B4-BE49-F238E27FC236}">
                <a16:creationId xmlns:a16="http://schemas.microsoft.com/office/drawing/2014/main" id="{3B8B7220-7AAB-B70D-DDC5-65A3E14022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944" y="2431764"/>
            <a:ext cx="1181204" cy="1197496"/>
          </a:xfrm>
          <a:prstGeom prst="rect">
            <a:avLst/>
          </a:prstGeom>
        </p:spPr>
      </p:pic>
      <p:pic>
        <p:nvPicPr>
          <p:cNvPr id="61" name="Image 60" descr="Une image contenant Police, Graphique, capture d’écran, logo&#10;&#10;Le contenu généré par l’IA peut être incorrect.">
            <a:extLst>
              <a:ext uri="{FF2B5EF4-FFF2-40B4-BE49-F238E27FC236}">
                <a16:creationId xmlns:a16="http://schemas.microsoft.com/office/drawing/2014/main" id="{2F66F5CF-2CEC-857C-0FA4-506907B2F0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8464" y="2193553"/>
            <a:ext cx="1953370" cy="1251772"/>
          </a:xfrm>
          <a:prstGeom prst="rect">
            <a:avLst/>
          </a:prstGeom>
        </p:spPr>
      </p:pic>
      <p:cxnSp>
        <p:nvCxnSpPr>
          <p:cNvPr id="62" name="Connecteur : en angle 61">
            <a:extLst>
              <a:ext uri="{FF2B5EF4-FFF2-40B4-BE49-F238E27FC236}">
                <a16:creationId xmlns:a16="http://schemas.microsoft.com/office/drawing/2014/main" id="{A379D42A-7EA7-9605-E007-0EEAE72D765F}"/>
              </a:ext>
            </a:extLst>
          </p:cNvPr>
          <p:cNvCxnSpPr>
            <a:cxnSpLocks/>
            <a:endCxn id="15" idx="2"/>
          </p:cNvCxnSpPr>
          <p:nvPr/>
        </p:nvCxnSpPr>
        <p:spPr>
          <a:xfrm flipV="1">
            <a:off x="4258179" y="4432765"/>
            <a:ext cx="5260808" cy="1399998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5" name="Image 64" descr="Une image contenant Police, logo, Graphique, texte&#10;&#10;Le contenu généré par l’IA peut être incorrect.">
            <a:extLst>
              <a:ext uri="{FF2B5EF4-FFF2-40B4-BE49-F238E27FC236}">
                <a16:creationId xmlns:a16="http://schemas.microsoft.com/office/drawing/2014/main" id="{2593D3F3-BFEC-6E4F-DCC5-B2A329F088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46274" y="2964642"/>
            <a:ext cx="1646434" cy="750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6273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CC8B6-05A1-C7E3-BE62-08E81B0A9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50372EA-D1FE-8C8B-8956-434E54328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Suivi : étude du data drift</a:t>
            </a:r>
          </a:p>
        </p:txBody>
      </p:sp>
      <p:pic>
        <p:nvPicPr>
          <p:cNvPr id="6" name="Espace réservé du contenu 5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EC80E31A-1318-66A7-0CB1-ECD0B8D6FB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08630" y="2181225"/>
            <a:ext cx="6374740" cy="3678238"/>
          </a:xfrm>
          <a:prstGeom prst="rect">
            <a:avLst/>
          </a:prstGeom>
        </p:spPr>
      </p:pic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899858C-0DD6-BD36-C293-AA5925299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819AE-B619-487D-9152-CB0FE4E70819}" type="slidenum">
              <a:rPr lang="fr-FR" smtClean="0"/>
              <a:t>18</a:t>
            </a:fld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FA13B1C-471E-EFCD-CB32-B24A3F59ADCF}"/>
              </a:ext>
            </a:extLst>
          </p:cNvPr>
          <p:cNvSpPr txBox="1"/>
          <p:nvPr/>
        </p:nvSpPr>
        <p:spPr>
          <a:xfrm>
            <a:off x="-1" y="6488668"/>
            <a:ext cx="12192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>
                <a:solidFill>
                  <a:schemeClr val="bg1">
                    <a:lumMod val="85000"/>
                  </a:schemeClr>
                </a:solidFill>
              </a:rPr>
              <a:t>Introduction</a:t>
            </a:r>
            <a:r>
              <a:rPr lang="fr-FR" sz="1600" dirty="0"/>
              <a:t> </a:t>
            </a:r>
            <a:r>
              <a:rPr lang="fr-FR" sz="1600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 Description  </a:t>
            </a:r>
            <a:r>
              <a:rPr lang="fr-FR" sz="1600" dirty="0">
                <a:solidFill>
                  <a:schemeClr val="bg1">
                    <a:lumMod val="85000"/>
                  </a:schemeClr>
                </a:solidFill>
              </a:rPr>
              <a:t>Analyses </a:t>
            </a:r>
            <a:r>
              <a:rPr lang="fr-FR" sz="1600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 </a:t>
            </a:r>
            <a:r>
              <a:rPr lang="fr-FR" sz="1600" dirty="0" err="1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Feature</a:t>
            </a:r>
            <a:r>
              <a:rPr lang="fr-FR" sz="1600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 engineering  Modélisation </a:t>
            </a:r>
            <a:r>
              <a:rPr lang="fr-FR" sz="1600" dirty="0" err="1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Feature</a:t>
            </a:r>
            <a:r>
              <a:rPr lang="fr-FR" sz="1600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 importance  Déploiement  </a:t>
            </a:r>
            <a:r>
              <a:rPr lang="fr-FR" sz="1600" dirty="0">
                <a:sym typeface="Wingdings" panose="05000000000000000000" pitchFamily="2" charset="2"/>
              </a:rPr>
              <a:t>Suivi</a:t>
            </a:r>
            <a:r>
              <a:rPr lang="fr-FR" sz="1600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  Exemple</a:t>
            </a:r>
            <a:endParaRPr lang="fr-FR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3CEFC7-4D00-280C-11F8-7618A9030885}"/>
              </a:ext>
            </a:extLst>
          </p:cNvPr>
          <p:cNvSpPr/>
          <p:nvPr/>
        </p:nvSpPr>
        <p:spPr>
          <a:xfrm>
            <a:off x="3182471" y="2483224"/>
            <a:ext cx="6100899" cy="41237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657483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1ACCE-BD7C-18B2-CBBA-F802DEE14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8095928-C83D-C3E3-81D0-F5E3CB84A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Conclusion : exemple avec un client !</a:t>
            </a:r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761B2BC9-C5A0-CE2D-B6D3-7373087A63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2400" dirty="0">
                <a:hlinkClick r:id="rId2"/>
              </a:rPr>
              <a:t>Cliquez ici !</a:t>
            </a:r>
            <a:endParaRPr lang="fr-FR" sz="2400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11145A2-2753-6E7B-DB1D-C55D5DC24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819AE-B619-487D-9152-CB0FE4E70819}" type="slidenum">
              <a:rPr lang="fr-FR" smtClean="0"/>
              <a:t>19</a:t>
            </a:fld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160C673-CDBD-821B-9EEE-5A8243374CF8}"/>
              </a:ext>
            </a:extLst>
          </p:cNvPr>
          <p:cNvSpPr txBox="1"/>
          <p:nvPr/>
        </p:nvSpPr>
        <p:spPr>
          <a:xfrm>
            <a:off x="-1" y="6488668"/>
            <a:ext cx="12192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>
                <a:solidFill>
                  <a:schemeClr val="bg1">
                    <a:lumMod val="85000"/>
                  </a:schemeClr>
                </a:solidFill>
              </a:rPr>
              <a:t>Introduction</a:t>
            </a:r>
            <a:r>
              <a:rPr lang="fr-FR" sz="1600" dirty="0"/>
              <a:t> </a:t>
            </a:r>
            <a:r>
              <a:rPr lang="fr-FR" sz="1600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 Description  </a:t>
            </a:r>
            <a:r>
              <a:rPr lang="fr-FR" sz="1600" dirty="0">
                <a:solidFill>
                  <a:schemeClr val="bg1">
                    <a:lumMod val="85000"/>
                  </a:schemeClr>
                </a:solidFill>
              </a:rPr>
              <a:t>Analyses </a:t>
            </a:r>
            <a:r>
              <a:rPr lang="fr-FR" sz="1600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 </a:t>
            </a:r>
            <a:r>
              <a:rPr lang="fr-FR" sz="1600" dirty="0" err="1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Feature</a:t>
            </a:r>
            <a:r>
              <a:rPr lang="fr-FR" sz="1600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 engineering  Modélisation </a:t>
            </a:r>
            <a:r>
              <a:rPr lang="fr-FR" sz="1600" dirty="0" err="1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Feature</a:t>
            </a:r>
            <a:r>
              <a:rPr lang="fr-FR" sz="1600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 importance  Déploiement  Suivi  </a:t>
            </a:r>
            <a:r>
              <a:rPr lang="fr-FR" sz="1600" dirty="0">
                <a:sym typeface="Wingdings" panose="05000000000000000000" pitchFamily="2" charset="2"/>
              </a:rPr>
              <a:t>Exemple</a:t>
            </a:r>
            <a:endParaRPr lang="fr-FR" sz="1600" dirty="0"/>
          </a:p>
        </p:txBody>
      </p:sp>
    </p:spTree>
    <p:extLst>
      <p:ext uri="{BB962C8B-B14F-4D97-AF65-F5344CB8AC3E}">
        <p14:creationId xmlns:p14="http://schemas.microsoft.com/office/powerpoint/2010/main" val="392439826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e">
  <a:themeElements>
    <a:clrScheme name="Dividende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e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e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Dividende</Template>
  <TotalTime>1226</TotalTime>
  <Words>718</Words>
  <Application>Microsoft Office PowerPoint</Application>
  <PresentationFormat>Grand écran</PresentationFormat>
  <Paragraphs>106</Paragraphs>
  <Slides>19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4" baseType="lpstr">
      <vt:lpstr>Calibri</vt:lpstr>
      <vt:lpstr>Gill Sans MT</vt:lpstr>
      <vt:lpstr>Wingdings</vt:lpstr>
      <vt:lpstr>Wingdings 2</vt:lpstr>
      <vt:lpstr>Dividende</vt:lpstr>
      <vt:lpstr>élaboration et implémentation d’un modèle de scoring</vt:lpstr>
      <vt:lpstr>INTRODUCTION</vt:lpstr>
      <vt:lpstr>Présentation du jeu de données</vt:lpstr>
      <vt:lpstr>Analyse exploratoire : distribution de la target</vt:lpstr>
      <vt:lpstr>Analyse exploratoire : Corrélations évidentes</vt:lpstr>
      <vt:lpstr>Analyse exploratoire : Corrélations évidentes</vt:lpstr>
      <vt:lpstr>Feature engineering</vt:lpstr>
      <vt:lpstr>Création du modèle : méthode</vt:lpstr>
      <vt:lpstr>Création du modèle : baseline et 1ers tests</vt:lpstr>
      <vt:lpstr>Création du modèle : gestion du déséquilibre</vt:lpstr>
      <vt:lpstr>Création du modèle : Exemple de tracking</vt:lpstr>
      <vt:lpstr>Feature importance globale</vt:lpstr>
      <vt:lpstr>Feature importance globale et seuil de décision</vt:lpstr>
      <vt:lpstr>Feature importance LOCALE : 2 exemples</vt:lpstr>
      <vt:lpstr>Déploiement :  gestion du projet avec github</vt:lpstr>
      <vt:lpstr>Déploiement :  utilisation de render</vt:lpstr>
      <vt:lpstr>Déploiement : schéma explicatif</vt:lpstr>
      <vt:lpstr>Suivi : étude du data drift</vt:lpstr>
      <vt:lpstr>Conclusion : exemple avec un client 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Ludovic Chaumaz</dc:creator>
  <cp:lastModifiedBy>Ludovic Chaumaz</cp:lastModifiedBy>
  <cp:revision>12</cp:revision>
  <dcterms:created xsi:type="dcterms:W3CDTF">2025-12-04T08:52:45Z</dcterms:created>
  <dcterms:modified xsi:type="dcterms:W3CDTF">2025-12-12T14:53:11Z</dcterms:modified>
</cp:coreProperties>
</file>